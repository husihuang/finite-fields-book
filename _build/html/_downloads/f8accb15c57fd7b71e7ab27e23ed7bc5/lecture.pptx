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4.xml" ContentType="application/vnd.openxmlformats-officedocument.presentationml.notesSlide+xml"/>
  <Override PartName="/ppt/tags/tag27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57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3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6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54.xml" ContentType="application/vnd.openxmlformats-officedocument.presentationml.tags+xml"/>
  <Override PartName="/ppt/tags/tag56.xml" ContentType="application/vnd.openxmlformats-officedocument.presentationml.tags+xml"/>
  <Override PartName="/ppt/notesSlides/notesSlide67.xml" ContentType="application/vnd.openxmlformats-officedocument.presentationml.notesSlide+xml"/>
  <Override PartName="/ppt/tags/tag57.xml" ContentType="application/vnd.openxmlformats-officedocument.presentationml.tags+xml"/>
  <Override PartName="/ppt/tags/tag59.xml" ContentType="application/vnd.openxmlformats-officedocument.presentationml.tags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tags/tag60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70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72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73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74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tags/tag87.xml" ContentType="application/vnd.openxmlformats-officedocument.presentationml.tags+xml"/>
  <Override PartName="/ppt/tags/tag89.xml" ContentType="application/vnd.openxmlformats-officedocument.presentationml.tags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tags/tag90.xml" ContentType="application/vnd.openxmlformats-officedocument.presentationml.tags+xml"/>
  <Override PartName="/ppt/tags/tag92.xml" ContentType="application/vnd.openxmlformats-officedocument.presentationml.tags+xml"/>
  <Override PartName="/ppt/notesSlides/notesSlide79.xml" ContentType="application/vnd.openxmlformats-officedocument.presentationml.notesSlide+xml"/>
  <Override PartName="/ppt/tags/tag93.xml" ContentType="application/vnd.openxmlformats-officedocument.presentationml.tags+xml"/>
  <Override PartName="/ppt/tags/tag95.xml" ContentType="application/vnd.openxmlformats-officedocument.presentationml.tags+xml"/>
  <Override PartName="/ppt/notesSlides/notesSlide80.xml" ContentType="application/vnd.openxmlformats-officedocument.presentationml.notesSlide+xml"/>
  <Override PartName="/ppt/tags/tag96.xml" ContentType="application/vnd.openxmlformats-officedocument.presentationml.tags+xml"/>
  <Override PartName="/ppt/tags/tag98.xml" ContentType="application/vnd.openxmlformats-officedocument.presentationml.tags+xml"/>
  <Override PartName="/ppt/notesSlides/notesSlide81.xml" ContentType="application/vnd.openxmlformats-officedocument.presentationml.notesSlide+xml"/>
  <Override PartName="/ppt/tags/tag99.xml" ContentType="application/vnd.openxmlformats-officedocument.presentationml.tags+xml"/>
  <Override PartName="/ppt/tags/tag101.xml" ContentType="application/vnd.openxmlformats-officedocument.presentationml.tags+xml"/>
  <Override PartName="/ppt/notesSlides/notesSlide82.xml" ContentType="application/vnd.openxmlformats-officedocument.presentationml.notesSlide+xml"/>
  <Override PartName="/ppt/tags/tag102.xml" ContentType="application/vnd.openxmlformats-officedocument.presentationml.tags+xml"/>
  <Override PartName="/ppt/tags/tag104.xml" ContentType="application/vnd.openxmlformats-officedocument.presentationml.tags+xml"/>
  <Override PartName="/ppt/notesSlides/notesSlide83.xml" ContentType="application/vnd.openxmlformats-officedocument.presentationml.notesSlide+xml"/>
  <Override PartName="/ppt/tags/tag105.xml" ContentType="application/vnd.openxmlformats-officedocument.presentationml.tags+xml"/>
  <Override PartName="/ppt/tags/tag107.xml" ContentType="application/vnd.openxmlformats-officedocument.presentationml.tags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tags/tag108.xml" ContentType="application/vnd.openxmlformats-officedocument.presentationml.tags+xml"/>
  <Override PartName="/ppt/tags/tag110.xml" ContentType="application/vnd.openxmlformats-officedocument.presentationml.tags+xml"/>
  <Override PartName="/ppt/notesSlides/notesSlide86.xml" ContentType="application/vnd.openxmlformats-officedocument.presentationml.notesSlide+xml"/>
  <Override PartName="/ppt/tags/tag111.xml" ContentType="application/vnd.openxmlformats-officedocument.presentationml.tags+xml"/>
  <Override PartName="/ppt/tags/tag113.xml" ContentType="application/vnd.openxmlformats-officedocument.presentationml.tags+xml"/>
  <Override PartName="/ppt/notesSlides/notesSlide87.xml" ContentType="application/vnd.openxmlformats-officedocument.presentationml.notesSlide+xml"/>
  <Override PartName="/ppt/tags/tag114.xml" ContentType="application/vnd.openxmlformats-officedocument.presentationml.tags+xml"/>
  <Override PartName="/ppt/notesSlides/notesSlide88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tags/tag119.xml" ContentType="application/vnd.openxmlformats-officedocument.presentationml.tags+xml"/>
  <Override PartName="/ppt/tags/tag121.xml" ContentType="application/vnd.openxmlformats-officedocument.presentationml.tags+xml"/>
  <Override PartName="/ppt/notesSlides/notesSlide91.xml" ContentType="application/vnd.openxmlformats-officedocument.presentationml.notesSlide+xml"/>
  <Override PartName="/ppt/tags/tag122.xml" ContentType="application/vnd.openxmlformats-officedocument.presentationml.tags+xml"/>
  <Override PartName="/ppt/tags/tag124.xml" ContentType="application/vnd.openxmlformats-officedocument.presentationml.tags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tags/tag125.xml" ContentType="application/vnd.openxmlformats-officedocument.presentationml.tags+xml"/>
  <Override PartName="/ppt/tags/tag127.xml" ContentType="application/vnd.openxmlformats-officedocument.presentationml.tags+xml"/>
  <Override PartName="/ppt/notesSlides/notesSlide94.xml" ContentType="application/vnd.openxmlformats-officedocument.presentationml.notesSlide+xml"/>
  <Override PartName="/ppt/tags/tag128.xml" ContentType="application/vnd.openxmlformats-officedocument.presentationml.tags+xml"/>
  <Override PartName="/ppt/tags/tag130.xml" ContentType="application/vnd.openxmlformats-officedocument.presentationml.tags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tags/tag131.xml" ContentType="application/vnd.openxmlformats-officedocument.presentationml.tags+xml"/>
  <Override PartName="/ppt/tags/tag133.xml" ContentType="application/vnd.openxmlformats-officedocument.presentationml.tags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tags/tag134.xml" ContentType="application/vnd.openxmlformats-officedocument.presentationml.tags+xml"/>
  <Override PartName="/ppt/tags/tag136.xml" ContentType="application/vnd.openxmlformats-officedocument.presentationml.tags+xml"/>
  <Override PartName="/ppt/notesSlides/notesSlide99.xml" ContentType="application/vnd.openxmlformats-officedocument.presentationml.notesSlide+xml"/>
  <Override PartName="/ppt/tags/tag137.xml" ContentType="application/vnd.openxmlformats-officedocument.presentationml.tags+xml"/>
  <Override PartName="/ppt/tags/tag139.xml" ContentType="application/vnd.openxmlformats-officedocument.presentationml.tags+xml"/>
  <Override PartName="/ppt/notesSlides/notesSlide100.xml" ContentType="application/vnd.openxmlformats-officedocument.presentationml.notesSlide+xml"/>
  <Override PartName="/ppt/tags/tag140.xml" ContentType="application/vnd.openxmlformats-officedocument.presentationml.tags+xml"/>
  <Override PartName="/ppt/tags/tag142.xml" ContentType="application/vnd.openxmlformats-officedocument.presentationml.tags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110.xml" ContentType="application/vnd.openxmlformats-officedocument.presentationml.tags+xml"/>
  <Override PartName="/ppt/tags/tag14.xml" ContentType="application/vnd.openxmlformats-officedocument.presentationml.tags+xml"/>
  <Override PartName="/ppt/tags/tag17.xml" ContentType="application/vnd.openxmlformats-officedocument.presentationml.tags+xml"/>
  <Override PartName="/ppt/tags/tag20.xml" ContentType="application/vnd.openxmlformats-officedocument.presentationml.tags+xml"/>
  <Override PartName="/ppt/tags/tag23.xml" ContentType="application/vnd.openxmlformats-officedocument.presentationml.tags+xml"/>
  <Override PartName="/ppt/tags/tag26.xml" ContentType="application/vnd.openxmlformats-officedocument.presentationml.tags+xml"/>
  <Override PartName="/ppt/tags/tag28.xml" ContentType="application/vnd.openxmlformats-officedocument.presentationml.tags+xml"/>
  <Override PartName="/ppt/tags/tag31.xml" ContentType="application/vnd.openxmlformats-officedocument.presentationml.tags+xml"/>
  <Override PartName="/ppt/tags/tag34.xml" ContentType="application/vnd.openxmlformats-officedocument.presentationml.tags+xml"/>
  <Override PartName="/ppt/tags/tag37.xml" ContentType="application/vnd.openxmlformats-officedocument.presentationml.tags+xml"/>
  <Override PartName="/ppt/tags/tag40.xml" ContentType="application/vnd.openxmlformats-officedocument.presentationml.tags+xml"/>
  <Override PartName="/ppt/tags/tag43.xml" ContentType="application/vnd.openxmlformats-officedocument.presentationml.tags+xml"/>
  <Override PartName="/ppt/tags/tag46.xml" ContentType="application/vnd.openxmlformats-officedocument.presentationml.tags+xml"/>
  <Override PartName="/ppt/tags/tag49.xml" ContentType="application/vnd.openxmlformats-officedocument.presentationml.tags+xml"/>
  <Override PartName="/ppt/tags/tag520.xml" ContentType="application/vnd.openxmlformats-officedocument.presentationml.tags+xml"/>
  <Override PartName="/ppt/tags/tag55.xml" ContentType="application/vnd.openxmlformats-officedocument.presentationml.tags+xml"/>
  <Override PartName="/ppt/tags/tag58.xml" ContentType="application/vnd.openxmlformats-officedocument.presentationml.tags+xml"/>
  <Override PartName="/ppt/tags/tag61.xml" ContentType="application/vnd.openxmlformats-officedocument.presentationml.tags+xml"/>
  <Override PartName="/ppt/tags/tag640.xml" ContentType="application/vnd.openxmlformats-officedocument.presentationml.tags+xml"/>
  <Override PartName="/ppt/tags/tag67.xml" ContentType="application/vnd.openxmlformats-officedocument.presentationml.tags+xml"/>
  <Override PartName="/ppt/tags/tag70.xml" ContentType="application/vnd.openxmlformats-officedocument.presentationml.tags+xml"/>
  <Override PartName="/ppt/tags/tag73.xml" ContentType="application/vnd.openxmlformats-officedocument.presentationml.tags+xml"/>
  <Override PartName="/ppt/tags/tag76.xml" ContentType="application/vnd.openxmlformats-officedocument.presentationml.tags+xml"/>
  <Override PartName="/ppt/tags/tag79.xml" ContentType="application/vnd.openxmlformats-officedocument.presentationml.tags+xml"/>
  <Override PartName="/ppt/tags/tag82.xml" ContentType="application/vnd.openxmlformats-officedocument.presentationml.tags+xml"/>
  <Override PartName="/ppt/tags/tag88.xml" ContentType="application/vnd.openxmlformats-officedocument.presentationml.tags+xml"/>
  <Override PartName="/ppt/tags/tag91.xml" ContentType="application/vnd.openxmlformats-officedocument.presentationml.tags+xml"/>
  <Override PartName="/ppt/tags/tag94.xml" ContentType="application/vnd.openxmlformats-officedocument.presentationml.tags+xml"/>
  <Override PartName="/ppt/tags/tag97.xml" ContentType="application/vnd.openxmlformats-officedocument.presentationml.tags+xml"/>
  <Override PartName="/ppt/tags/tag100.xml" ContentType="application/vnd.openxmlformats-officedocument.presentationml.tags+xml"/>
  <Override PartName="/ppt/tags/tag103.xml" ContentType="application/vnd.openxmlformats-officedocument.presentationml.tags+xml"/>
  <Override PartName="/ppt/tags/tag106.xml" ContentType="application/vnd.openxmlformats-officedocument.presentationml.tags+xml"/>
  <Override PartName="/ppt/tags/tag109.xml" ContentType="application/vnd.openxmlformats-officedocument.presentationml.tags+xml"/>
  <Override PartName="/ppt/tags/tag112.xml" ContentType="application/vnd.openxmlformats-officedocument.presentationml.tags+xml"/>
  <Override PartName="/ppt/tags/tag115.xml" ContentType="application/vnd.openxmlformats-officedocument.presentationml.tags+xml"/>
  <Override PartName="/ppt/tags/tag118.xml" ContentType="application/vnd.openxmlformats-officedocument.presentationml.tags+xml"/>
  <Override PartName="/ppt/tags/tag120.xml" ContentType="application/vnd.openxmlformats-officedocument.presentationml.tags+xml"/>
  <Override PartName="/ppt/tags/tag123.xml" ContentType="application/vnd.openxmlformats-officedocument.presentationml.tags+xml"/>
  <Override PartName="/ppt/tags/tag126.xml" ContentType="application/vnd.openxmlformats-officedocument.presentationml.tags+xml"/>
  <Override PartName="/ppt/tags/tag129.xml" ContentType="application/vnd.openxmlformats-officedocument.presentationml.tags+xml"/>
  <Override PartName="/ppt/tags/tag132.xml" ContentType="application/vnd.openxmlformats-officedocument.presentationml.tags+xml"/>
  <Override PartName="/ppt/tags/tag135.xml" ContentType="application/vnd.openxmlformats-officedocument.presentationml.tags+xml"/>
  <Override PartName="/ppt/tags/tag138.xml" ContentType="application/vnd.openxmlformats-officedocument.presentationml.tags+xml"/>
  <Override PartName="/ppt/tags/tag141.xml" ContentType="application/vnd.openxmlformats-officedocument.presentationml.tags+xml"/>
  <Override PartName="/ppt/tags/tag144.xml" ContentType="application/vnd.openxmlformats-officedocument.presentationml.tags+xml"/>
  <Override PartName="/ppt/tags/tag14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7"/>
  </p:notesMasterIdLst>
  <p:sldIdLst>
    <p:sldId id="256" r:id="rId3"/>
    <p:sldId id="258" r:id="rId4"/>
    <p:sldId id="447" r:id="rId5"/>
    <p:sldId id="259" r:id="rId6"/>
    <p:sldId id="261" r:id="rId7"/>
    <p:sldId id="262" r:id="rId8"/>
    <p:sldId id="265" r:id="rId9"/>
    <p:sldId id="298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4" r:id="rId18"/>
    <p:sldId id="299" r:id="rId19"/>
    <p:sldId id="300" r:id="rId20"/>
    <p:sldId id="301" r:id="rId21"/>
    <p:sldId id="302" r:id="rId22"/>
    <p:sldId id="303" r:id="rId23"/>
    <p:sldId id="275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448" r:id="rId32"/>
    <p:sldId id="285" r:id="rId33"/>
    <p:sldId id="286" r:id="rId34"/>
    <p:sldId id="287" r:id="rId35"/>
    <p:sldId id="288" r:id="rId36"/>
    <p:sldId id="289" r:id="rId37"/>
    <p:sldId id="290" r:id="rId38"/>
    <p:sldId id="292" r:id="rId39"/>
    <p:sldId id="293" r:id="rId40"/>
    <p:sldId id="294" r:id="rId41"/>
    <p:sldId id="295" r:id="rId42"/>
    <p:sldId id="296" r:id="rId43"/>
    <p:sldId id="304" r:id="rId44"/>
    <p:sldId id="334" r:id="rId45"/>
    <p:sldId id="336" r:id="rId46"/>
    <p:sldId id="337" r:id="rId47"/>
    <p:sldId id="338" r:id="rId48"/>
    <p:sldId id="340" r:id="rId49"/>
    <p:sldId id="339" r:id="rId50"/>
    <p:sldId id="363" r:id="rId51"/>
    <p:sldId id="335" r:id="rId52"/>
    <p:sldId id="364" r:id="rId53"/>
    <p:sldId id="365" r:id="rId54"/>
    <p:sldId id="341" r:id="rId55"/>
    <p:sldId id="342" r:id="rId56"/>
    <p:sldId id="343" r:id="rId57"/>
    <p:sldId id="344" r:id="rId58"/>
    <p:sldId id="345" r:id="rId59"/>
    <p:sldId id="346" r:id="rId60"/>
    <p:sldId id="353" r:id="rId61"/>
    <p:sldId id="347" r:id="rId62"/>
    <p:sldId id="348" r:id="rId63"/>
    <p:sldId id="349" r:id="rId64"/>
    <p:sldId id="351" r:id="rId65"/>
    <p:sldId id="354" r:id="rId66"/>
    <p:sldId id="355" r:id="rId67"/>
    <p:sldId id="356" r:id="rId68"/>
    <p:sldId id="357" r:id="rId69"/>
    <p:sldId id="358" r:id="rId70"/>
    <p:sldId id="359" r:id="rId71"/>
    <p:sldId id="360" r:id="rId72"/>
    <p:sldId id="369" r:id="rId73"/>
    <p:sldId id="361" r:id="rId74"/>
    <p:sldId id="362" r:id="rId75"/>
    <p:sldId id="370" r:id="rId76"/>
    <p:sldId id="366" r:id="rId77"/>
    <p:sldId id="367" r:id="rId78"/>
    <p:sldId id="368" r:id="rId79"/>
    <p:sldId id="372" r:id="rId80"/>
    <p:sldId id="373" r:id="rId81"/>
    <p:sldId id="374" r:id="rId82"/>
    <p:sldId id="375" r:id="rId83"/>
    <p:sldId id="376" r:id="rId84"/>
    <p:sldId id="378" r:id="rId85"/>
    <p:sldId id="379" r:id="rId86"/>
    <p:sldId id="380" r:id="rId87"/>
    <p:sldId id="381" r:id="rId88"/>
    <p:sldId id="384" r:id="rId89"/>
    <p:sldId id="383" r:id="rId90"/>
    <p:sldId id="385" r:id="rId91"/>
    <p:sldId id="386" r:id="rId92"/>
    <p:sldId id="387" r:id="rId93"/>
    <p:sldId id="389" r:id="rId94"/>
    <p:sldId id="390" r:id="rId95"/>
    <p:sldId id="410" r:id="rId96"/>
    <p:sldId id="394" r:id="rId97"/>
    <p:sldId id="395" r:id="rId98"/>
    <p:sldId id="396" r:id="rId99"/>
    <p:sldId id="397" r:id="rId100"/>
    <p:sldId id="398" r:id="rId101"/>
    <p:sldId id="399" r:id="rId102"/>
    <p:sldId id="401" r:id="rId103"/>
    <p:sldId id="402" r:id="rId104"/>
    <p:sldId id="403" r:id="rId105"/>
    <p:sldId id="404" r:id="rId106"/>
    <p:sldId id="405" r:id="rId107"/>
    <p:sldId id="406" r:id="rId108"/>
    <p:sldId id="411" r:id="rId109"/>
    <p:sldId id="412" r:id="rId110"/>
    <p:sldId id="413" r:id="rId111"/>
    <p:sldId id="414" r:id="rId112"/>
    <p:sldId id="415" r:id="rId113"/>
    <p:sldId id="416" r:id="rId114"/>
    <p:sldId id="417" r:id="rId115"/>
    <p:sldId id="418" r:id="rId116"/>
    <p:sldId id="419" r:id="rId117"/>
    <p:sldId id="420" r:id="rId118"/>
    <p:sldId id="421" r:id="rId119"/>
    <p:sldId id="445" r:id="rId120"/>
    <p:sldId id="423" r:id="rId121"/>
    <p:sldId id="569" r:id="rId122"/>
    <p:sldId id="424" r:id="rId123"/>
    <p:sldId id="570" r:id="rId124"/>
    <p:sldId id="428" r:id="rId125"/>
    <p:sldId id="571" r:id="rId126"/>
  </p:sldIdLst>
  <p:sldSz cx="12192000" cy="6858000"/>
  <p:notesSz cx="6858000" cy="9144000"/>
  <p:custDataLst>
    <p:tags r:id="rId1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09DB"/>
    <a:srgbClr val="3B862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48"/>
  </p:normalViewPr>
  <p:slideViewPr>
    <p:cSldViewPr snapToGrid="0">
      <p:cViewPr varScale="1">
        <p:scale>
          <a:sx n="88" d="100"/>
          <a:sy n="88" d="100"/>
        </p:scale>
        <p:origin x="72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ags" Target="tags/tag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AE71E-67FF-4922-80E5-5CEB21FC25AB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77F3E-72A3-475F-9E9A-E0D710EC45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277F3E-72A3-475F-9E9A-E0D710EC45E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277F3E-72A3-475F-9E9A-E0D710EC45E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277F3E-72A3-475F-9E9A-E0D710EC45E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77F3E-72A3-475F-9E9A-E0D710EC45E7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00814-D37F-4B42-9DE1-78B6A49ACCC3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FE641-8FD2-46FD-B713-C46D9E8612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55.png"/><Relationship Id="rId4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110.xml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70.png"/><Relationship Id="rId5" Type="http://schemas.openxmlformats.org/officeDocument/2006/relationships/tags" Target="../tags/tag14.xml"/><Relationship Id="rId4" Type="http://schemas.openxmlformats.org/officeDocument/2006/relationships/notesSlide" Target="../notesSlides/notesSlide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71.png"/><Relationship Id="rId5" Type="http://schemas.openxmlformats.org/officeDocument/2006/relationships/tags" Target="../tags/tag17.xml"/><Relationship Id="rId4" Type="http://schemas.openxmlformats.org/officeDocument/2006/relationships/notesSlide" Target="../notesSlides/notesSlid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4.png"/><Relationship Id="rId5" Type="http://schemas.openxmlformats.org/officeDocument/2006/relationships/tags" Target="../tags/tag20.xml"/><Relationship Id="rId4" Type="http://schemas.openxmlformats.org/officeDocument/2006/relationships/notesSlide" Target="../notesSlides/notesSlide5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8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87.png"/><Relationship Id="rId5" Type="http://schemas.openxmlformats.org/officeDocument/2006/relationships/tags" Target="../tags/tag23.xml"/><Relationship Id="rId4" Type="http://schemas.openxmlformats.org/officeDocument/2006/relationships/notesSlide" Target="../notesSlides/notesSlide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9.png"/><Relationship Id="rId5" Type="http://schemas.openxmlformats.org/officeDocument/2006/relationships/tags" Target="../tags/tag26.xml"/><Relationship Id="rId4" Type="http://schemas.openxmlformats.org/officeDocument/2006/relationships/notesSlide" Target="../notesSlides/notesSlide5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5" Type="http://schemas.openxmlformats.org/officeDocument/2006/relationships/image" Target="../media/image90.png"/><Relationship Id="rId4" Type="http://schemas.openxmlformats.org/officeDocument/2006/relationships/tags" Target="../tags/tag2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93.png"/><Relationship Id="rId5" Type="http://schemas.openxmlformats.org/officeDocument/2006/relationships/tags" Target="../tags/tag31.xml"/><Relationship Id="rId4" Type="http://schemas.openxmlformats.org/officeDocument/2006/relationships/notesSlide" Target="../notesSlides/notesSlide5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94.png"/><Relationship Id="rId5" Type="http://schemas.openxmlformats.org/officeDocument/2006/relationships/tags" Target="../tags/tag34.xml"/><Relationship Id="rId4" Type="http://schemas.openxmlformats.org/officeDocument/2006/relationships/notesSlide" Target="../notesSlides/notesSlide5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95.png"/><Relationship Id="rId5" Type="http://schemas.openxmlformats.org/officeDocument/2006/relationships/tags" Target="../tags/tag37.xml"/><Relationship Id="rId4" Type="http://schemas.openxmlformats.org/officeDocument/2006/relationships/notesSlide" Target="../notesSlides/notesSlide5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96.png"/><Relationship Id="rId5" Type="http://schemas.openxmlformats.org/officeDocument/2006/relationships/tags" Target="../tags/tag40.xml"/><Relationship Id="rId4" Type="http://schemas.openxmlformats.org/officeDocument/2006/relationships/notesSlide" Target="../notesSlides/notesSlide6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97.png"/><Relationship Id="rId5" Type="http://schemas.openxmlformats.org/officeDocument/2006/relationships/tags" Target="../tags/tag43.xml"/><Relationship Id="rId4" Type="http://schemas.openxmlformats.org/officeDocument/2006/relationships/notesSlide" Target="../notesSlides/notesSlide6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99.png"/><Relationship Id="rId5" Type="http://schemas.openxmlformats.org/officeDocument/2006/relationships/tags" Target="../tags/tag46.xml"/><Relationship Id="rId4" Type="http://schemas.openxmlformats.org/officeDocument/2006/relationships/notesSlide" Target="../notesSlides/notesSlide6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101.png"/><Relationship Id="rId5" Type="http://schemas.openxmlformats.org/officeDocument/2006/relationships/tags" Target="../tags/tag49.xml"/><Relationship Id="rId4" Type="http://schemas.openxmlformats.org/officeDocument/2006/relationships/notesSlide" Target="../notesSlides/notesSlide64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tags" Target="../tags/tag52.xml"/><Relationship Id="rId7" Type="http://schemas.openxmlformats.org/officeDocument/2006/relationships/tags" Target="../tags/tag520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65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03.png"/><Relationship Id="rId4" Type="http://schemas.openxmlformats.org/officeDocument/2006/relationships/tags" Target="../tags/tag53.xml"/><Relationship Id="rId9" Type="http://schemas.openxmlformats.org/officeDocument/2006/relationships/tags" Target="../tags/tag5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4.xml"/><Relationship Id="rId6" Type="http://schemas.openxmlformats.org/officeDocument/2006/relationships/image" Target="../media/image105.png"/><Relationship Id="rId5" Type="http://schemas.openxmlformats.org/officeDocument/2006/relationships/tags" Target="../tags/tag58.xml"/><Relationship Id="rId4" Type="http://schemas.openxmlformats.org/officeDocument/2006/relationships/notesSlide" Target="../notesSlides/notesSlide6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tags" Target="../tags/tag57.xml"/><Relationship Id="rId6" Type="http://schemas.openxmlformats.org/officeDocument/2006/relationships/image" Target="../media/image106.png"/><Relationship Id="rId5" Type="http://schemas.openxmlformats.org/officeDocument/2006/relationships/tags" Target="../tags/tag61.xml"/><Relationship Id="rId4" Type="http://schemas.openxmlformats.org/officeDocument/2006/relationships/notesSlide" Target="../notesSlides/notesSlide6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tags" Target="../tags/tag63.xml"/><Relationship Id="rId7" Type="http://schemas.openxmlformats.org/officeDocument/2006/relationships/tags" Target="../tags/tag640.xml"/><Relationship Id="rId2" Type="http://schemas.openxmlformats.org/officeDocument/2006/relationships/tags" Target="../tags/tag62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70.xml"/><Relationship Id="rId11" Type="http://schemas.openxmlformats.org/officeDocument/2006/relationships/image" Target="../media/image110.png"/><Relationship Id="rId5" Type="http://schemas.openxmlformats.org/officeDocument/2006/relationships/slideLayout" Target="../slideLayouts/slideLayout1.xml"/><Relationship Id="rId10" Type="http://schemas.openxmlformats.org/officeDocument/2006/relationships/tags" Target="../tags/tag67.xml"/><Relationship Id="rId4" Type="http://schemas.openxmlformats.org/officeDocument/2006/relationships/tags" Target="../tags/tag64.xml"/><Relationship Id="rId9" Type="http://schemas.openxmlformats.org/officeDocument/2006/relationships/image" Target="../media/image10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tags" Target="../tags/tag68.xml"/><Relationship Id="rId7" Type="http://schemas.openxmlformats.org/officeDocument/2006/relationships/tags" Target="../tags/tag70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7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12.png"/><Relationship Id="rId4" Type="http://schemas.openxmlformats.org/officeDocument/2006/relationships/tags" Target="../tags/tag69.xml"/><Relationship Id="rId9" Type="http://schemas.openxmlformats.org/officeDocument/2006/relationships/tags" Target="../tags/tag73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74.xml"/><Relationship Id="rId7" Type="http://schemas.openxmlformats.org/officeDocument/2006/relationships/tags" Target="../tags/tag76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14.png"/><Relationship Id="rId4" Type="http://schemas.openxmlformats.org/officeDocument/2006/relationships/tags" Target="../tags/tag75.xml"/><Relationship Id="rId9" Type="http://schemas.openxmlformats.org/officeDocument/2006/relationships/tags" Target="../tags/tag79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tags" Target="../tags/tag80.xml"/><Relationship Id="rId7" Type="http://schemas.openxmlformats.org/officeDocument/2006/relationships/tags" Target="../tags/tag8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7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1.xml"/><Relationship Id="rId9" Type="http://schemas.openxmlformats.org/officeDocument/2006/relationships/image" Target="../media/image1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8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image" Target="../media/image117.png"/><Relationship Id="rId4" Type="http://schemas.openxmlformats.org/officeDocument/2006/relationships/notesSlide" Target="../notesSlides/notesSlide7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0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1.xml"/><Relationship Id="rId5" Type="http://schemas.openxmlformats.org/officeDocument/2006/relationships/image" Target="../media/image119.png"/><Relationship Id="rId4" Type="http://schemas.openxmlformats.org/officeDocument/2006/relationships/notesSlide" Target="../notesSlides/notesSlide7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tags" Target="../tags/tag87.xml"/><Relationship Id="rId6" Type="http://schemas.openxmlformats.org/officeDocument/2006/relationships/image" Target="../media/image122.png"/><Relationship Id="rId5" Type="http://schemas.openxmlformats.org/officeDocument/2006/relationships/tags" Target="../tags/tag94.xml"/><Relationship Id="rId4" Type="http://schemas.openxmlformats.org/officeDocument/2006/relationships/notesSlide" Target="../notesSlides/notesSlide7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tags" Target="../tags/tag90.xml"/><Relationship Id="rId6" Type="http://schemas.openxmlformats.org/officeDocument/2006/relationships/image" Target="../media/image124.png"/><Relationship Id="rId5" Type="http://schemas.openxmlformats.org/officeDocument/2006/relationships/tags" Target="../tags/tag97.xml"/><Relationship Id="rId4" Type="http://schemas.openxmlformats.org/officeDocument/2006/relationships/notesSlide" Target="../notesSlides/notesSlide7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" Type="http://schemas.openxmlformats.org/officeDocument/2006/relationships/tags" Target="../tags/tag93.xml"/><Relationship Id="rId6" Type="http://schemas.openxmlformats.org/officeDocument/2006/relationships/image" Target="../media/image125.png"/><Relationship Id="rId5" Type="http://schemas.openxmlformats.org/officeDocument/2006/relationships/tags" Target="../tags/tag100.xml"/><Relationship Id="rId4" Type="http://schemas.openxmlformats.org/officeDocument/2006/relationships/notesSlide" Target="../notesSlides/notesSlide8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6.xml"/><Relationship Id="rId6" Type="http://schemas.openxmlformats.org/officeDocument/2006/relationships/image" Target="../media/image126.png"/><Relationship Id="rId5" Type="http://schemas.openxmlformats.org/officeDocument/2006/relationships/tags" Target="../tags/tag103.xml"/><Relationship Id="rId4" Type="http://schemas.openxmlformats.org/officeDocument/2006/relationships/notesSlide" Target="../notesSlides/notesSlide8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99.xml"/><Relationship Id="rId6" Type="http://schemas.openxmlformats.org/officeDocument/2006/relationships/image" Target="../media/image127.png"/><Relationship Id="rId5" Type="http://schemas.openxmlformats.org/officeDocument/2006/relationships/tags" Target="../tags/tag106.xml"/><Relationship Id="rId4" Type="http://schemas.openxmlformats.org/officeDocument/2006/relationships/notesSlide" Target="../notesSlides/notesSlide8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tags" Target="../tags/tag102.xml"/><Relationship Id="rId6" Type="http://schemas.openxmlformats.org/officeDocument/2006/relationships/image" Target="../media/image128.png"/><Relationship Id="rId5" Type="http://schemas.openxmlformats.org/officeDocument/2006/relationships/tags" Target="../tags/tag109.xml"/><Relationship Id="rId4" Type="http://schemas.openxmlformats.org/officeDocument/2006/relationships/notesSlide" Target="../notesSlides/notesSlide8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7.xml"/><Relationship Id="rId1" Type="http://schemas.openxmlformats.org/officeDocument/2006/relationships/tags" Target="../tags/tag105.xml"/><Relationship Id="rId6" Type="http://schemas.openxmlformats.org/officeDocument/2006/relationships/image" Target="../media/image129.png"/><Relationship Id="rId5" Type="http://schemas.openxmlformats.org/officeDocument/2006/relationships/tags" Target="../tags/tag112.xml"/><Relationship Id="rId4" Type="http://schemas.openxmlformats.org/officeDocument/2006/relationships/notesSlide" Target="../notesSlides/notesSlide8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0.xml"/><Relationship Id="rId1" Type="http://schemas.openxmlformats.org/officeDocument/2006/relationships/tags" Target="../tags/tag108.xml"/><Relationship Id="rId6" Type="http://schemas.openxmlformats.org/officeDocument/2006/relationships/image" Target="../media/image131.png"/><Relationship Id="rId5" Type="http://schemas.openxmlformats.org/officeDocument/2006/relationships/tags" Target="../tags/tag115.xml"/><Relationship Id="rId4" Type="http://schemas.openxmlformats.org/officeDocument/2006/relationships/notesSlide" Target="../notesSlides/notesSlide8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3.xml"/><Relationship Id="rId1" Type="http://schemas.openxmlformats.org/officeDocument/2006/relationships/tags" Target="../tags/tag111.xml"/><Relationship Id="rId6" Type="http://schemas.openxmlformats.org/officeDocument/2006/relationships/image" Target="../media/image132.png"/><Relationship Id="rId5" Type="http://schemas.openxmlformats.org/officeDocument/2006/relationships/tags" Target="../tags/tag118.xml"/><Relationship Id="rId4" Type="http://schemas.openxmlformats.org/officeDocument/2006/relationships/notesSlide" Target="../notesSlides/notesSlide8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4.xml"/><Relationship Id="rId5" Type="http://schemas.openxmlformats.org/officeDocument/2006/relationships/image" Target="../media/image133.png"/><Relationship Id="rId4" Type="http://schemas.openxmlformats.org/officeDocument/2006/relationships/tags" Target="../tags/tag120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slideLayout" Target="../slideLayouts/slideLayout1.xml"/><Relationship Id="rId7" Type="http://schemas.openxmlformats.org/officeDocument/2006/relationships/tags" Target="../tags/tag123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notesSlide" Target="../notesSlides/notesSlide8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1.xml"/><Relationship Id="rId1" Type="http://schemas.openxmlformats.org/officeDocument/2006/relationships/tags" Target="../tags/tag119.xml"/><Relationship Id="rId6" Type="http://schemas.openxmlformats.org/officeDocument/2006/relationships/image" Target="../media/image138.png"/><Relationship Id="rId5" Type="http://schemas.openxmlformats.org/officeDocument/2006/relationships/tags" Target="../tags/tag126.xml"/><Relationship Id="rId4" Type="http://schemas.openxmlformats.org/officeDocument/2006/relationships/notesSlide" Target="../notesSlides/notesSlide9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4.xml"/><Relationship Id="rId1" Type="http://schemas.openxmlformats.org/officeDocument/2006/relationships/tags" Target="../tags/tag122.xml"/><Relationship Id="rId6" Type="http://schemas.openxmlformats.org/officeDocument/2006/relationships/image" Target="../media/image139.png"/><Relationship Id="rId5" Type="http://schemas.openxmlformats.org/officeDocument/2006/relationships/tags" Target="../tags/tag129.xml"/><Relationship Id="rId4" Type="http://schemas.openxmlformats.org/officeDocument/2006/relationships/notesSlide" Target="../notesSlides/notesSlide9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7.xml"/><Relationship Id="rId1" Type="http://schemas.openxmlformats.org/officeDocument/2006/relationships/tags" Target="../tags/tag125.xml"/><Relationship Id="rId6" Type="http://schemas.openxmlformats.org/officeDocument/2006/relationships/image" Target="../media/image141.png"/><Relationship Id="rId5" Type="http://schemas.openxmlformats.org/officeDocument/2006/relationships/tags" Target="../tags/tag132.xml"/><Relationship Id="rId4" Type="http://schemas.openxmlformats.org/officeDocument/2006/relationships/notesSlide" Target="../notesSlides/notesSlide9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43.png"/><Relationship Id="rId2" Type="http://schemas.openxmlformats.org/officeDocument/2006/relationships/tags" Target="../tags/tag130.xml"/><Relationship Id="rId1" Type="http://schemas.openxmlformats.org/officeDocument/2006/relationships/tags" Target="../tags/tag128.xml"/><Relationship Id="rId6" Type="http://schemas.openxmlformats.org/officeDocument/2006/relationships/tags" Target="../tags/tag135.xml"/><Relationship Id="rId5" Type="http://schemas.openxmlformats.org/officeDocument/2006/relationships/image" Target="../media/image142.png"/><Relationship Id="rId4" Type="http://schemas.openxmlformats.org/officeDocument/2006/relationships/notesSlide" Target="../notesSlides/notesSlide9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3.xml"/><Relationship Id="rId1" Type="http://schemas.openxmlformats.org/officeDocument/2006/relationships/tags" Target="../tags/tag131.xml"/><Relationship Id="rId6" Type="http://schemas.openxmlformats.org/officeDocument/2006/relationships/image" Target="../media/image145.png"/><Relationship Id="rId5" Type="http://schemas.openxmlformats.org/officeDocument/2006/relationships/tags" Target="../tags/tag138.xml"/><Relationship Id="rId4" Type="http://schemas.openxmlformats.org/officeDocument/2006/relationships/notesSlide" Target="../notesSlides/notesSlide9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6.xml"/><Relationship Id="rId1" Type="http://schemas.openxmlformats.org/officeDocument/2006/relationships/tags" Target="../tags/tag134.xml"/><Relationship Id="rId6" Type="http://schemas.openxmlformats.org/officeDocument/2006/relationships/image" Target="../media/image147.png"/><Relationship Id="rId5" Type="http://schemas.openxmlformats.org/officeDocument/2006/relationships/tags" Target="../tags/tag141.xml"/><Relationship Id="rId4" Type="http://schemas.openxmlformats.org/officeDocument/2006/relationships/notesSlide" Target="../notesSlides/notesSlide9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9.xml"/><Relationship Id="rId1" Type="http://schemas.openxmlformats.org/officeDocument/2006/relationships/tags" Target="../tags/tag137.xml"/><Relationship Id="rId6" Type="http://schemas.openxmlformats.org/officeDocument/2006/relationships/image" Target="../media/image148.png"/><Relationship Id="rId5" Type="http://schemas.openxmlformats.org/officeDocument/2006/relationships/tags" Target="../tags/tag144.xml"/><Relationship Id="rId4" Type="http://schemas.openxmlformats.org/officeDocument/2006/relationships/notesSlide" Target="../notesSlides/notesSlide10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2.xml"/><Relationship Id="rId1" Type="http://schemas.openxmlformats.org/officeDocument/2006/relationships/tags" Target="../tags/tag140.xml"/><Relationship Id="rId6" Type="http://schemas.openxmlformats.org/officeDocument/2006/relationships/image" Target="../media/image149.png"/><Relationship Id="rId5" Type="http://schemas.openxmlformats.org/officeDocument/2006/relationships/tags" Target="../tags/tag147.xml"/><Relationship Id="rId4" Type="http://schemas.openxmlformats.org/officeDocument/2006/relationships/notesSlide" Target="../notesSlides/notesSlide10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7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6.png"/><Relationship Id="rId4" Type="http://schemas.openxmlformats.org/officeDocument/2006/relationships/image" Target="../media/image11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8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66274" y="402571"/>
            <a:ext cx="4539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1.1 </a:t>
            </a:r>
            <a:r>
              <a:rPr lang="zh-CN" altLang="en-US" sz="3600" b="1" dirty="0">
                <a:latin typeface="+mn-ea"/>
              </a:rPr>
              <a:t>群的定义和例子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4810" y="148701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84810" y="3833426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059631" y="1487013"/>
                <a:ext cx="7981838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设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为一个非空集合，我们将映射</a:t>
                </a:r>
                <a:endParaRPr lang="en-US" altLang="zh-CN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US" altLang="zh-CN" sz="32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: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2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SimSun-ExtB" panose="02010609060101010101" pitchFamily="49" charset="-122"/>
                  <a:ea typeface="SimSun-ExtB" panose="02010609060101010101" pitchFamily="49" charset="-122"/>
                </a:endParaRPr>
              </a:p>
              <a:p>
                <a:pPr algn="ctr"/>
                <a:r>
                  <a:rPr lang="en-US" altLang="zh-CN" sz="3200" b="0" dirty="0">
                    <a:solidFill>
                      <a:schemeClr val="accent6">
                        <a:lumMod val="75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⟼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(或 </m:t>
                    </m:r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zh-CN" altLang="en-US" sz="3200" dirty="0"/>
                  <a:t>称为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二元运算</a:t>
                </a:r>
                <a:r>
                  <a:rPr lang="en-US" altLang="zh-CN" sz="32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1" y="1487013"/>
                <a:ext cx="7981838" cy="2062103"/>
              </a:xfrm>
              <a:prstGeom prst="rect">
                <a:avLst/>
              </a:prstGeom>
              <a:blipFill rotWithShape="1">
                <a:blip r:embed="rId2"/>
                <a:stretch>
                  <a:fillRect l="-4" t="-23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059631" y="3833426"/>
                <a:ext cx="6160168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整数集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上的加法：</a:t>
                </a:r>
                <a:endParaRPr lang="en-US" altLang="zh-CN" sz="3200" dirty="0"/>
              </a:p>
              <a:p>
                <a:r>
                  <a:rPr lang="en-US" altLang="zh-CN" sz="3200" dirty="0"/>
                  <a:t>             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 :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→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altLang="zh-CN" sz="3200" b="0" dirty="0">
                    <a:solidFill>
                      <a:schemeClr val="accent6">
                        <a:lumMod val="75000"/>
                      </a:schemeClr>
                    </a:solidFill>
                  </a:rPr>
                  <a:t>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altLang="zh-CN" sz="32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1" y="3833426"/>
                <a:ext cx="6160168" cy="2339102"/>
              </a:xfrm>
              <a:prstGeom prst="rect">
                <a:avLst/>
              </a:prstGeom>
              <a:blipFill rotWithShape="1">
                <a:blip r:embed="rId3"/>
                <a:stretch>
                  <a:fillRect l="-5" t="-24" r="6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5178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给定一个非空集合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及其上的一个二元运算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3200" dirty="0"/>
                  <a:t>，我们说</a:t>
                </a:r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对于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3200" dirty="0"/>
                  <a:t> 构成一个群，若</a:t>
                </a:r>
                <a:r>
                  <a:rPr lang="en-US" altLang="zh-CN" sz="3200" dirty="0"/>
                  <a:t>: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1)  </a:t>
                </a:r>
                <a:r>
                  <a:rPr lang="zh-CN" altLang="en-US" sz="3200" b="1" dirty="0"/>
                  <a:t>结合律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r>
                  <a:rPr lang="en-US" altLang="zh-CN" sz="3200" dirty="0"/>
                  <a:t>2)  </a:t>
                </a:r>
                <a:r>
                  <a:rPr lang="zh-CN" altLang="en-US" sz="3200" b="1" dirty="0"/>
                  <a:t>单位元</a:t>
                </a:r>
                <a:r>
                  <a:rPr lang="zh-CN" altLang="en-US" sz="3200" dirty="0"/>
                  <a:t>：</a:t>
                </a:r>
                <a:r>
                  <a:rPr lang="en-US" altLang="zh-CN" sz="3200" b="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∀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spcAft>
                    <a:spcPts val="1500"/>
                  </a:spcAft>
                </a:pPr>
                <a:r>
                  <a:rPr lang="zh-CN" altLang="en-US" sz="3200" dirty="0"/>
                  <a:t>     我们称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中的单位元，也写成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en-US" sz="3200" dirty="0"/>
                  <a:t> 或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3200" dirty="0"/>
                  <a:t>.</a:t>
                </a:r>
              </a:p>
              <a:p>
                <a:r>
                  <a:rPr lang="en-US" altLang="zh-CN" sz="3200" dirty="0"/>
                  <a:t>3)  </a:t>
                </a:r>
                <a:r>
                  <a:rPr lang="zh-CN" altLang="en-US" sz="3200" b="1" dirty="0"/>
                  <a:t>逆元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,∃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     我们称此元素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的逆元，记成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altLang="zh-CN" sz="3200" dirty="0"/>
                  <a:t>4)  </a:t>
                </a:r>
                <a:r>
                  <a:rPr lang="en-US" altLang="zh-CN" sz="3200" b="1" dirty="0"/>
                  <a:t>Abel</a:t>
                </a:r>
                <a:r>
                  <a:rPr lang="zh-CN" altLang="en-US" sz="3200" b="1" dirty="0"/>
                  <a:t>（交换）群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3200" b="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5178341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69" y="0"/>
            <a:ext cx="114618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spcAft>
                    <a:spcPts val="1500"/>
                  </a:spcAft>
                  <a:buFontTx/>
                  <a:buAutoNum type="arabicParenR"/>
                </a:pPr>
                <a:r>
                  <a:rPr lang="zh-CN" altLang="en-US" sz="3200" dirty="0"/>
                  <a:t>对于 </a:t>
                </a:r>
                <a:r>
                  <a:rPr lang="en-US" altLang="zh-CN" sz="3200" dirty="0"/>
                  <a:t>Abel </a:t>
                </a:r>
                <a:r>
                  <a:rPr lang="zh-CN" altLang="en-US" sz="3200" dirty="0"/>
                  <a:t>群，我们常将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200" dirty="0"/>
                  <a:t> 写成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200" dirty="0"/>
                  <a:t>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2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zh-CN" altLang="en-US" sz="3200" i="0" dirty="0">
                        <a:latin typeface="Cambria Math" panose="02040503050406030204" pitchFamily="18" charset="0"/>
                      </a:rPr>
                      <m:t> 写成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2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写成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altLang="zh-CN" sz="3200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  <a:p>
                <a:pPr>
                  <a:spcAft>
                    <a:spcPts val="1500"/>
                  </a:spcAft>
                </a:pPr>
                <a:r>
                  <a:rPr lang="en-US" altLang="zh-CN" sz="3200" dirty="0"/>
                  <a:t>2)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个 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500"/>
                  </a:spcAft>
                </a:pPr>
                <a:r>
                  <a:rPr lang="en-US" altLang="zh-CN" sz="3200" b="0" dirty="0">
                    <a:solidFill>
                      <a:srgbClr val="3B862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5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CN" sz="3200" b="0" dirty="0">
                    <a:solidFill>
                      <a:srgbClr val="3B862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个 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816429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4507572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4507572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所有整数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3200" dirty="0"/>
                  <a:t> 在加法运算下构成一个交换群，记为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/>
                  <a:t> 同样地，还有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（"/>
                        <m:endChr m:val="）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ℂ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507572"/>
                <a:ext cx="9268767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3" t="-32" r="7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所有整数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3200" dirty="0"/>
                  <a:t> 在加法运算下构成一个交换群，记为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/>
                  <a:t> 同样地，还有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（"/>
                        <m:endChr m:val="）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ℂ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189766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1897665"/>
                <a:ext cx="9268767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0,1,2,3,4,5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在</m:t>
                    </m:r>
                  </m:oMath>
                </a14:m>
                <a:r>
                  <a:rPr lang="zh-CN" altLang="en-US" sz="3200" dirty="0"/>
                  <a:t>模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sz="3200" dirty="0"/>
                  <a:t> 加运算下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b="0" dirty="0"/>
                  <a:t>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+  :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</m:t>
                      </m: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构造一个 </a:t>
                </a:r>
                <a:r>
                  <a:rPr lang="en-US" altLang="zh-CN" sz="3200" dirty="0"/>
                  <a:t>Abel</a:t>
                </a:r>
                <a:r>
                  <a:rPr lang="zh-CN" altLang="en-US" sz="3200" dirty="0"/>
                  <a:t> 群。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897665"/>
                <a:ext cx="9268767" cy="2523768"/>
              </a:xfrm>
              <a:prstGeom prst="rect">
                <a:avLst/>
              </a:prstGeom>
              <a:blipFill rotWithShape="1">
                <a:blip r:embed="rId4"/>
                <a:stretch>
                  <a:fillRect l="-3" t="-11" r="7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26191" y="442143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01011" y="4421433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所有非零的有理数在乘法运算下构成一个交换群，记为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</a:rPr>
                  <a:t>. </a:t>
                </a:r>
                <a:r>
                  <a:rPr lang="zh-CN" altLang="en-US" sz="3200" dirty="0"/>
                  <a:t>同样地还有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\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ℂ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011" y="4421433"/>
                <a:ext cx="9268767" cy="1077218"/>
              </a:xfrm>
              <a:prstGeom prst="rect">
                <a:avLst/>
              </a:prstGeom>
              <a:blipFill rotWithShape="1">
                <a:blip r:embed="rId5"/>
                <a:stretch>
                  <a:fillRect l="-2" t="-52" r="5" b="-40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若群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中含有有限多个元素，则称其为</a:t>
                </a:r>
                <a:r>
                  <a:rPr lang="zh-CN" altLang="en-US" sz="3200" b="1" dirty="0"/>
                  <a:t>有限群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群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元素的个数称为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阶</a:t>
                </a:r>
                <a:r>
                  <a:rPr lang="zh-CN" altLang="en-US" sz="3200" dirty="0"/>
                  <a:t>，记为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|.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</a:rPr>
                  <a:t> 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210086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2100862"/>
                <a:ext cx="9268767" cy="2279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  ∙)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</a:rPr>
                  <a:t>. </a:t>
                </a:r>
                <a:r>
                  <a:rPr lang="zh-CN" altLang="en-US" sz="3200" dirty="0"/>
                  <a:t>若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∃ 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3200" b="0" i="0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3200" b="0" i="0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3200" b="0" i="0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3200" b="0" i="0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  ∃ 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3200" b="0" i="0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3200" b="0" i="0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则称群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为</a:t>
                </a:r>
                <a:r>
                  <a:rPr lang="zh-CN" altLang="en-US" sz="3200" b="1" dirty="0"/>
                  <a:t>循环群</a:t>
                </a:r>
                <a:r>
                  <a:rPr lang="zh-CN" altLang="en-US" sz="32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的一个</a:t>
                </a:r>
                <a:r>
                  <a:rPr lang="zh-CN" altLang="en-US" sz="3200" b="1" dirty="0"/>
                  <a:t>生成元</a:t>
                </a:r>
                <a:r>
                  <a:rPr lang="en-US" altLang="zh-CN" sz="3200" dirty="0"/>
                  <a:t>.  </a:t>
                </a:r>
                <a:r>
                  <a:rPr lang="zh-CN" altLang="en-US" sz="3200" dirty="0"/>
                  <a:t>也记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100862"/>
                <a:ext cx="9268767" cy="2279407"/>
              </a:xfrm>
              <a:prstGeom prst="rect">
                <a:avLst/>
              </a:prstGeom>
              <a:blipFill rotWithShape="1">
                <a:blip r:embed="rId4"/>
                <a:stretch>
                  <a:fillRect l="-3" t="-12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  ∙</m:t>
                        </m:r>
                      </m:e>
                    </m:d>
                  </m:oMath>
                </a14:m>
                <a:r>
                  <a:rPr lang="zh-CN" altLang="en-US" sz="3200" dirty="0"/>
                  <a:t> 及其子集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如果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自身在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的运算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3200" dirty="0"/>
                  <a:t>下构成一个群，则称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的一个</a:t>
                </a:r>
                <a:r>
                  <a:rPr lang="zh-CN" altLang="en-US" sz="3200" b="1" dirty="0"/>
                  <a:t>子群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54040" y="2273916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15900" progId="Equation.KSEE3">
                  <p:embed/>
                </p:oleObj>
              </mc:Choice>
              <mc:Fallback>
                <p:oleObj r:id="rId4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54040" y="2273916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1767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1767468"/>
                <a:ext cx="9268767" cy="1784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我们用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表示由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的所有幂构成的子群，即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  <m:d>
                      <m:dPr>
                        <m:begChr m:val=""/>
                        <m:endChr m:val="}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767468"/>
                <a:ext cx="9268767" cy="1784591"/>
              </a:xfrm>
              <a:prstGeom prst="rect">
                <a:avLst/>
              </a:prstGeom>
              <a:blipFill rotWithShape="1">
                <a:blip r:embed="rId6"/>
                <a:stretch>
                  <a:fillRect l="-3" t="-15" r="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781609" y="355205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856429" y="3552059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若子群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为有限群，则将群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的阶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也称为元素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阶</a:t>
                </a:r>
                <a:r>
                  <a:rPr lang="zh-CN" altLang="en-US" sz="3200" dirty="0"/>
                  <a:t>.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552059"/>
                <a:ext cx="9268767" cy="1076325"/>
              </a:xfrm>
              <a:prstGeom prst="rect">
                <a:avLst/>
              </a:prstGeom>
              <a:blipFill rotWithShape="1">
                <a:blip r:embed="rId7"/>
                <a:stretch>
                  <a:fillRect l="-3" t="-47" r="7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54040" y="5197303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14400" imgH="215900" progId="Equation.KSEE3">
                  <p:embed/>
                </p:oleObj>
              </mc:Choice>
              <mc:Fallback>
                <p:oleObj r:id="rId8" imgW="914400" imgH="215900" progId="Equation.KSEE3">
                  <p:embed/>
                  <p:pic>
                    <p:nvPicPr>
                      <p:cNvPr id="0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54040" y="5197303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81609" y="469085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856429" y="4690855"/>
                <a:ext cx="9268767" cy="172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的子集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. 我们用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zh-CN" altLang="en-US" sz="3200" dirty="0"/>
                  <a:t> 表示由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 中所有有限多个元素幂乘积形成的子群. 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若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，则称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zh-CN" altLang="en-US" sz="3200" b="1" dirty="0"/>
                  <a:t>生成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+mn-ea"/>
                  </a:rPr>
                  <a:t>.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690855"/>
                <a:ext cx="9268767" cy="1722120"/>
              </a:xfrm>
              <a:prstGeom prst="rect">
                <a:avLst/>
              </a:prstGeom>
              <a:blipFill rotWithShape="1">
                <a:blip r:embed="rId9"/>
                <a:stretch>
                  <a:fillRect l="-3" t="-6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  ∙</m:t>
                        </m:r>
                      </m:e>
                    </m:d>
                  </m:oMath>
                </a14:m>
                <a:r>
                  <a:rPr lang="zh-CN" altLang="en-US" sz="3200" dirty="0"/>
                  <a:t> 及其子集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如果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自身在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的运算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sz="3200" dirty="0"/>
                  <a:t>下构成一个群，则称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的一个</a:t>
                </a:r>
                <a:r>
                  <a:rPr lang="zh-CN" altLang="en-US" sz="3200" b="1" dirty="0"/>
                  <a:t>子群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210086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2100862"/>
                <a:ext cx="9268767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由单位元构成的平凡子群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100862"/>
                <a:ext cx="9268767" cy="583565"/>
              </a:xfrm>
              <a:prstGeom prst="rect">
                <a:avLst/>
              </a:prstGeom>
              <a:blipFill rotWithShape="1">
                <a:blip r:embed="rId4"/>
                <a:stretch>
                  <a:fillRect l="-3" t="-48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54040" y="344995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4400" imgH="215900" progId="Equation.KSEE3">
                  <p:embed/>
                </p:oleObj>
              </mc:Choice>
              <mc:Fallback>
                <p:oleObj r:id="rId5" imgW="914400" imgH="215900" progId="Equation.KSEE3">
                  <p:embed/>
                  <p:pic>
                    <p:nvPicPr>
                      <p:cNvPr id="0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4040" y="344995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294350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2943507"/>
                <a:ext cx="9268767" cy="1784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我们用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表示由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的所有幂构成的子群，即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  <m:d>
                      <m:dPr>
                        <m:begChr m:val=""/>
                        <m:endChr m:val="}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rgbClr val="3B862E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943507"/>
                <a:ext cx="9268767" cy="1784591"/>
              </a:xfrm>
              <a:prstGeom prst="rect">
                <a:avLst/>
              </a:prstGeom>
              <a:blipFill rotWithShape="1">
                <a:blip r:embed="rId7"/>
                <a:stretch>
                  <a:fillRect l="-3" t="-16" r="7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若子群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为有限群，则将群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/>
                  <a:t> 的阶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也称为元素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阶</a:t>
                </a:r>
                <a:r>
                  <a:rPr lang="zh-CN" altLang="en-US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195608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1955800"/>
                <a:ext cx="9177020" cy="1108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验证元素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的阶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zh-CN" altLang="en-US" sz="3200" dirty="0"/>
                  <a:t> 是使得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"/>
                            <m:endChr m:val="|"/>
                            <m:ctrlPr>
                              <a:rPr lang="en-US" altLang="zh-CN" sz="32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32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en-US" altLang="zh-CN" sz="32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sup>
                    </m:sSup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200" dirty="0"/>
                  <a:t> 成立的最小正整数.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1955800"/>
                <a:ext cx="9177020" cy="1108765"/>
              </a:xfrm>
              <a:prstGeom prst="rect">
                <a:avLst/>
              </a:prstGeom>
              <a:blipFill rotWithShape="1">
                <a:blip r:embed="rId4"/>
                <a:stretch>
                  <a:fillRect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54040" y="383286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4400" imgH="215900" progId="Equation.KSEE3">
                  <p:embed/>
                </p:oleObj>
              </mc:Choice>
              <mc:Fallback>
                <p:oleObj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4040" y="383286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332641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3326412"/>
                <a:ext cx="9268767" cy="172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的子集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. 我们用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zh-CN" altLang="en-US" sz="3200" dirty="0"/>
                  <a:t> 表示由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 中所有有限多个元素幂乘积形成的子群. 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若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，则称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 生成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+mn-ea"/>
                  </a:rPr>
                  <a:t>.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326412"/>
                <a:ext cx="9268767" cy="1722120"/>
              </a:xfrm>
              <a:prstGeom prst="rect">
                <a:avLst/>
              </a:prstGeom>
              <a:blipFill rotWithShape="1">
                <a:blip r:embed="rId7"/>
                <a:stretch>
                  <a:fillRect l="-3" t="-16" r="7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268767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我们称集合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的一个子集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200" dirty="0"/>
                  <a:t> 为</a:t>
                </a:r>
                <a:r>
                  <a:rPr lang="zh-CN" altLang="en-US" sz="3200" b="1" dirty="0"/>
                  <a:t>等价关系</a:t>
                </a:r>
                <a:r>
                  <a:rPr lang="zh-CN" altLang="en-US" sz="3200" dirty="0"/>
                  <a:t>，若</a:t>
                </a:r>
                <a:r>
                  <a:rPr lang="en-US" altLang="zh-CN" sz="3200" dirty="0"/>
                  <a:t>: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1)  </a:t>
                </a:r>
                <a:r>
                  <a:rPr lang="zh-CN" altLang="en-US" sz="3200" b="1" dirty="0"/>
                  <a:t>自反性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2)  </a:t>
                </a:r>
                <a:r>
                  <a:rPr lang="zh-CN" altLang="en-US" sz="3200" b="1" dirty="0"/>
                  <a:t>对称性</a:t>
                </a:r>
                <a:r>
                  <a:rPr lang="zh-CN" altLang="en-US" sz="3200" dirty="0"/>
                  <a:t>：</a:t>
                </a:r>
                <a:r>
                  <a:rPr lang="en-US" altLang="zh-CN" sz="3200" b="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sz="3200" b="0" dirty="0"/>
                  <a:t>若</a:t>
                </a:r>
                <a:r>
                  <a:rPr lang="zh-CN" altLang="en-US" sz="3200" b="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3200" dirty="0"/>
                  <a:t>则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.</a:t>
                </a:r>
              </a:p>
              <a:p>
                <a:r>
                  <a:rPr lang="en-US" altLang="zh-CN" sz="3200" dirty="0"/>
                  <a:t>3)  </a:t>
                </a:r>
                <a:r>
                  <a:rPr lang="zh-CN" altLang="en-US" sz="3200" b="1" dirty="0"/>
                  <a:t>传递性</a:t>
                </a:r>
                <a:r>
                  <a:rPr lang="zh-CN" altLang="en-US" sz="3200" dirty="0"/>
                  <a:t>： 若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 则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.</a:t>
                </a:r>
                <a:r>
                  <a:rPr lang="zh-CN" altLang="en-US" sz="3200" dirty="0"/>
                  <a:t>取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/>
                  <a:t>, </a:t>
                </a:r>
                <a:r>
                  <a:rPr lang="zh-CN" altLang="en-US" sz="3200" dirty="0"/>
                  <a:t>我们记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等价类</a:t>
                </a:r>
                <a:r>
                  <a:rPr lang="zh-CN" altLang="en-US" sz="3200" dirty="0"/>
                  <a:t>为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lit/>
                        </m:rP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]={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268767" cy="3508653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7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457069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4570730"/>
                <a:ext cx="9460230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如果两个等价类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dirty="0"/>
                  <a:t> 和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不相等，那么 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lit/>
                        </m:rP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]∩</m:t>
                      </m:r>
                      <m:r>
                        <m:rPr>
                          <m:lit/>
                        </m:rP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’]=∅</m:t>
                      </m:r>
                    </m:oMath>
                  </m:oMathPara>
                </a14:m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从而所有不同的等价类构成集合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/>
                  <a:t> 的一个</a:t>
                </a:r>
                <a:r>
                  <a:rPr lang="zh-CN" altLang="en-US" sz="3200" b="1" dirty="0"/>
                  <a:t>划分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4570730"/>
                <a:ext cx="9460230" cy="1877437"/>
              </a:xfrm>
              <a:prstGeom prst="rect">
                <a:avLst/>
              </a:prstGeom>
              <a:blipFill rotWithShape="1">
                <a:blip r:embed="rId4"/>
                <a:stretch>
                  <a:fillRect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5198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1.2 </a:t>
            </a:r>
            <a:r>
              <a:rPr lang="zh-CN" altLang="en-US" sz="3600" b="1" dirty="0"/>
              <a:t>等价关系和等价类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例子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430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spcAft>
                    <a:spcPts val="1200"/>
                  </a:spcAft>
                </a:pPr>
                <a:r>
                  <a:rPr lang="zh-CN" sz="3200" dirty="0"/>
                  <a:t>整数集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</a:t>
                </a:r>
                <a:r>
                  <a:rPr lang="zh-CN" altLang="en-US" sz="3200" dirty="0"/>
                  <a:t>模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sz="3200" dirty="0"/>
                  <a:t>同余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关系是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上的一个</a:t>
                </a:r>
                <a:r>
                  <a:rPr lang="zh-CN" altLang="en-US" sz="3200" dirty="0"/>
                  <a:t>等价关系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，并将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划分成了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个互不相交的等价类：</a:t>
                </a:r>
              </a:p>
              <a:p>
                <a:pPr indent="0" fontAlgn="auto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[0]={⋯,−2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,0,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,⋯}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[1]={⋯,−2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+1,−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+1,1,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+1,2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+1,⋯}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−1]={⋯,−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−1,−1,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−1,2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−1,⋯}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4309745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-297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例子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016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我们在以上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个等价类的集合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{[0],[1],⋯,[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−1]}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上定义如下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二元关系：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]+[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]=[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].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可以验证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({[0],[1],⋯,[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−1]},  +)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构成一个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群.</a:t>
                </a: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我们称其为 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模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 的剩余类群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016885"/>
              </a:xfrm>
              <a:prstGeom prst="rect">
                <a:avLst/>
              </a:prstGeom>
              <a:blipFill rotWithShape="1">
                <a:blip r:embed="rId3"/>
                <a:stretch>
                  <a:fillRect l="-3" t="-9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409292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  <a:sym typeface="+mn-ea"/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4082043"/>
                <a:ext cx="9268767" cy="584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为循环群，且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为其一生成元.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082043"/>
                <a:ext cx="9268767" cy="584200"/>
              </a:xfrm>
              <a:prstGeom prst="rect">
                <a:avLst/>
              </a:prstGeom>
              <a:blipFill rotWithShape="1">
                <a:blip r:embed="rId4"/>
                <a:stretch>
                  <a:fillRect l="-3" t="-45" r="7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  <a:sym typeface="+mn-ea"/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876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/>
                  <a:t> 在群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上定义如下关系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3200" dirty="0"/>
                  <a:t>:</a:t>
                </a:r>
              </a:p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320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⇔∃</m:t>
                      </m:r>
                      <m:r>
                        <a:rPr lang="en-US" altLang="zh-CN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zh-CN" altLang="en-US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zh-CN" altLang="en-US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zh-CN" altLang="en-US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𝑏ℎ</m:t>
                      </m:r>
                      <m:r>
                        <a:rPr lang="zh-CN" altLang="en-US" sz="320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是一个</a:t>
                </a:r>
                <a:r>
                  <a:rPr lang="zh-CN" altLang="en-US" sz="3200" b="1" dirty="0"/>
                  <a:t>等价关系</a:t>
                </a:r>
                <a:r>
                  <a:rPr lang="zh-CN" altLang="en-US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876425"/>
              </a:xfrm>
              <a:prstGeom prst="rect">
                <a:avLst/>
              </a:prstGeom>
              <a:blipFill rotWithShape="1">
                <a:blip r:embed="rId3"/>
                <a:stretch>
                  <a:fillRect l="-3" t="-14" r="7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493672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856740" y="4936753"/>
                <a:ext cx="946023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+mn-ea"/>
                  </a:rPr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我们有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𝑎𝐻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4936753"/>
                <a:ext cx="9460230" cy="1384995"/>
              </a:xfrm>
              <a:prstGeom prst="rect">
                <a:avLst/>
              </a:prstGeom>
              <a:blipFill rotWithShape="1">
                <a:blip r:embed="rId4"/>
                <a:stretch>
                  <a:fillRect t="-19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81609" y="25675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定义</a:t>
            </a:r>
            <a:endParaRPr lang="zh-CN" altLang="en-US" sz="3200" b="1" dirty="0">
              <a:solidFill>
                <a:srgbClr val="C00000"/>
              </a:solidFill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856429" y="2567568"/>
                <a:ext cx="9268767" cy="2369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及以上等价关系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zh-CN" altLang="en-US" sz="3200" dirty="0"/>
                  <a:t>我们用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来表示元素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所在的</a:t>
                </a:r>
                <a:r>
                  <a:rPr lang="zh-CN" altLang="en-US" sz="3200" b="1" dirty="0"/>
                  <a:t>等价类</a:t>
                </a:r>
                <a:r>
                  <a:rPr lang="zh-CN" altLang="en-US" sz="3200" dirty="0"/>
                  <a:t>，并称这些等价类为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关于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陪集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567568"/>
                <a:ext cx="9268767" cy="2369185"/>
              </a:xfrm>
              <a:prstGeom prst="rect">
                <a:avLst/>
              </a:prstGeom>
              <a:blipFill rotWithShape="1">
                <a:blip r:embed="rId5"/>
                <a:stretch>
                  <a:fillRect l="-3" t="-11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1609" y="3551524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3551555"/>
                <a:ext cx="946023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+mn-ea"/>
                  </a:rPr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我们有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𝑎𝐻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3551555"/>
                <a:ext cx="9460230" cy="1384995"/>
              </a:xfrm>
              <a:prstGeom prst="rect">
                <a:avLst/>
              </a:prstGeom>
              <a:blipFill rotWithShape="1">
                <a:blip r:embed="rId3"/>
                <a:stretch>
                  <a:fillRect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定义</a:t>
            </a:r>
            <a:endParaRPr lang="zh-CN" altLang="en-US" sz="3200" b="1" dirty="0">
              <a:solidFill>
                <a:srgbClr val="C00000"/>
              </a:solidFill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268767" cy="2369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及以上等价关系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320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zh-CN" altLang="en-US" sz="3200" dirty="0"/>
                  <a:t>我们用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3200" i="1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/>
                  <a:t>来表示元素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/>
                  <a:t> 所在的等价类，并称这些等价类为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关于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陪集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2369185"/>
              </a:xfrm>
              <a:prstGeom prst="rect">
                <a:avLst/>
              </a:prstGeom>
              <a:blipFill rotWithShape="1">
                <a:blip r:embed="rId4"/>
                <a:stretch>
                  <a:fillRect l="-3" t="-11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给定群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/>
                  <a:t> 我们将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关于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的不同陪集的数目记为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3200" dirty="0"/>
                  <a:t>，并称之为 </a:t>
                </a:r>
                <a14:m>
                  <m:oMath xmlns:m="http://schemas.openxmlformats.org/officeDocument/2006/math">
                    <m:r>
                      <a:rPr lang="zh-CN" altLang="en-US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/>
                  <a:t> 中的</a:t>
                </a:r>
                <a:r>
                  <a:rPr lang="zh-CN" altLang="en-US" sz="3200" b="1" dirty="0"/>
                  <a:t>指标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201323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2012950"/>
                <a:ext cx="9177020" cy="1229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(1)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|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begChr m:val=""/>
                        <m:endChr m:val="|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(2)</a:t>
                </a:r>
                <a:r>
                  <a:rPr lang="zh-CN" altLang="en-US" sz="3200" dirty="0"/>
                  <a:t> 作为</a:t>
                </a:r>
                <a:r>
                  <a:rPr lang="en-US" altLang="zh-CN" sz="3200" dirty="0"/>
                  <a:t> (1) </a:t>
                </a:r>
                <a:r>
                  <a:rPr lang="zh-CN" altLang="en-US" sz="3200" dirty="0"/>
                  <a:t>的特例，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zh-CN" altLang="en-US" sz="3200" dirty="0"/>
                  <a:t> 整除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2012950"/>
                <a:ext cx="9177020" cy="12299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347944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000809" y="3478237"/>
                <a:ext cx="91770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𝐺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关于 </a:t>
                </a:r>
                <a14:m>
                  <m:oMath xmlns:m="http://schemas.openxmlformats.org/officeDocument/2006/math">
                    <m:r>
                      <a:rPr kumimoji="0" lang="zh-CN" altLang="en-US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𝐻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的所有不同陪集构成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的一个划分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809" y="3478237"/>
                <a:ext cx="9177020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6" t="-58" r="6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583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）循环群的子群皆为循环群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3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有且仅有一个指标为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的子群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有且仅有一个阶为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的子群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4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包含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5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包含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个生成元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它们是元素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，其中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.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下面我们将依次证明结论（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-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5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5830699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5198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1.3 </a:t>
            </a:r>
            <a:r>
              <a:rPr lang="zh-CN" altLang="en-US" sz="3600" b="1" dirty="0"/>
              <a:t>循环群基本定理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）循环群的子群皆为循环群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1231106"/>
              </a:xfrm>
              <a:prstGeom prst="rect">
                <a:avLst/>
              </a:prstGeom>
              <a:blipFill rotWithShape="1">
                <a:blip r:embed="rId3"/>
                <a:stretch>
                  <a:fillRect l="-3" t="-21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81609" y="2236574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1460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1460272"/>
              </a:xfrm>
              <a:prstGeom prst="rect">
                <a:avLst/>
              </a:prstGeom>
              <a:blipFill rotWithShape="1">
                <a:blip r:embed="rId3"/>
                <a:stretch>
                  <a:fillRect l="-3" t="-18" r="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246574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3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有且仅有一个指标为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的子群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有且仅有一个阶为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的子群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1877437"/>
              </a:xfrm>
              <a:prstGeom prst="rect">
                <a:avLst/>
              </a:prstGeom>
              <a:blipFill rotWithShape="1">
                <a:blip r:embed="rId3"/>
                <a:stretch>
                  <a:fillRect l="-3" t="-14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2882905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4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包含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1231106"/>
              </a:xfrm>
              <a:prstGeom prst="rect">
                <a:avLst/>
              </a:prstGeom>
              <a:blipFill rotWithShape="1">
                <a:blip r:embed="rId3"/>
                <a:stretch>
                  <a:fillRect l="-3" t="-21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2236574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为阶为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的循环群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5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）群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包含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个生成元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它们是元素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，其中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.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1723549"/>
              </a:xfrm>
              <a:prstGeom prst="rect">
                <a:avLst/>
              </a:prstGeom>
              <a:blipFill rotWithShape="1">
                <a:blip r:embed="rId3"/>
                <a:stretch>
                  <a:fillRect l="-3" t="-15"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81609" y="272901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268767" cy="5109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/>
                  <a:t>环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  +,  ∙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是一个集合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并在其上定义满足如下性质的两类二元运算：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  +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交换群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）运算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“∙”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满足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结合律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3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分配律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𝑎𝑐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𝑐𝑎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268767" cy="5109091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5198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2.1 </a:t>
            </a:r>
            <a:r>
              <a:rPr lang="zh-CN" altLang="en-US" sz="3600" b="1" dirty="0">
                <a:latin typeface="+mn-ea"/>
              </a:rPr>
              <a:t>环和域的定义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740" y="681355"/>
                <a:ext cx="9480550" cy="54813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(1)  </a:t>
                </a:r>
                <a:r>
                  <a:rPr lang="zh-CN" altLang="en-US" sz="3200" b="1" dirty="0"/>
                  <a:t>幺环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：</a:t>
                </a:r>
                <a:r>
                  <a:rPr lang="zh-CN" altLang="en-US" sz="3200" dirty="0"/>
                  <a:t>具有单位元的环，即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∃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   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𝑒𝑎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(2) 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sz="3200" b="1" dirty="0"/>
                  <a:t>交换环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：</a:t>
                </a:r>
                <a:r>
                  <a:rPr lang="zh-CN" altLang="en-US" sz="3200" dirty="0"/>
                  <a:t>运算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“∙”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是交换的，即</a:t>
                </a: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   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𝑏𝑎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(3)  </a:t>
                </a:r>
                <a:r>
                  <a:rPr lang="zh-CN" altLang="en-US" sz="3200" b="1" dirty="0"/>
                  <a:t>整环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：</a:t>
                </a:r>
                <a:r>
                  <a:rPr lang="zh-CN" altLang="en-US" sz="3200" dirty="0"/>
                  <a:t>具有非零单位元的交换环，且满足：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=0⇒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=0 或 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(4)  </a:t>
                </a:r>
                <a:r>
                  <a:rPr lang="zh-CN" altLang="en-US" sz="3200" b="1" dirty="0"/>
                  <a:t>域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:  </a:t>
                </a:r>
                <a:r>
                  <a:rPr lang="zh-CN" altLang="en-US" sz="3200" dirty="0"/>
                  <a:t>交换环，且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中的非零元素在二元运算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“∙”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下构成群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681355"/>
                <a:ext cx="9480550" cy="5481320"/>
              </a:xfrm>
              <a:prstGeom prst="rect">
                <a:avLst/>
              </a:prstGeom>
              <a:blipFill rotWithShape="1">
                <a:blip r:embed="rId3"/>
                <a:stretch>
                  <a:fillRect b="-3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26876" y="66398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330315" y="1323340"/>
                <a:ext cx="2969260" cy="2481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002060"/>
                    </a:solidFill>
                  </a:rPr>
                  <a:t>环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Mat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d>
                      <m:d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endParaRPr lang="zh-CN" altLang="en-US" sz="3200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C00000"/>
                    </a:solidFill>
                  </a:rPr>
                  <a:t>交换环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CN" altLang="en-US" sz="3200" dirty="0">
                  <a:solidFill>
                    <a:srgbClr val="FFC000"/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accent4"/>
                    </a:solidFill>
                  </a:rPr>
                  <a:t>整环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zh-CN" altLang="en-US" sz="3200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AC09DB"/>
                    </a:solidFill>
                  </a:rPr>
                  <a:t>域</a:t>
                </a:r>
                <a:r>
                  <a:rPr lang="zh-CN" altLang="en-US" sz="32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zh-CN" sz="3200" b="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3200" b="0" i="1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315" y="1323340"/>
                <a:ext cx="2969260" cy="248158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/>
          <p:cNvSpPr/>
          <p:nvPr/>
        </p:nvSpPr>
        <p:spPr>
          <a:xfrm>
            <a:off x="2806065" y="1323340"/>
            <a:ext cx="2688590" cy="3985895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3110230" y="1823085"/>
            <a:ext cx="2080260" cy="3134995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3420745" y="2269490"/>
            <a:ext cx="1328420" cy="2414270"/>
          </a:xfrm>
          <a:prstGeom prst="ellipse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>
            <a:off x="3653790" y="2880360"/>
            <a:ext cx="861695" cy="1328420"/>
          </a:xfrm>
          <a:prstGeom prst="ellipse">
            <a:avLst/>
          </a:prstGeom>
          <a:noFill/>
          <a:ln w="28575" cmpd="sng">
            <a:solidFill>
              <a:srgbClr val="AC09DB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曲线连接符 13"/>
          <p:cNvCxnSpPr/>
          <p:nvPr/>
        </p:nvCxnSpPr>
        <p:spPr>
          <a:xfrm>
            <a:off x="4676775" y="1625714"/>
            <a:ext cx="1653540" cy="3175"/>
          </a:xfrm>
          <a:prstGeom prst="curved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/>
          <p:cNvCxnSpPr/>
          <p:nvPr>
            <p:custDataLst>
              <p:tags r:id="rId4"/>
            </p:custDataLst>
          </p:nvPr>
        </p:nvCxnSpPr>
        <p:spPr>
          <a:xfrm rot="16200000">
            <a:off x="5521325" y="1429035"/>
            <a:ext cx="12700" cy="1605280"/>
          </a:xfrm>
          <a:prstGeom prst="curvedConnector2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/>
          <p:cNvCxnSpPr/>
          <p:nvPr>
            <p:custDataLst>
              <p:tags r:id="rId5"/>
            </p:custDataLst>
          </p:nvPr>
        </p:nvCxnSpPr>
        <p:spPr>
          <a:xfrm>
            <a:off x="4499610" y="2894090"/>
            <a:ext cx="1830705" cy="3175"/>
          </a:xfrm>
          <a:prstGeom prst="curvedConnector3">
            <a:avLst>
              <a:gd name="adj1" fmla="val 50017"/>
            </a:avLst>
          </a:prstGeom>
          <a:ln w="28575" cmpd="sng">
            <a:solidFill>
              <a:srgbClr val="FFC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/>
          <p:nvPr>
            <p:custDataLst>
              <p:tags r:id="rId6"/>
            </p:custDataLst>
          </p:nvPr>
        </p:nvCxnSpPr>
        <p:spPr>
          <a:xfrm>
            <a:off x="4354830" y="3550399"/>
            <a:ext cx="1975485" cy="14605"/>
          </a:xfrm>
          <a:prstGeom prst="curvedConnector3">
            <a:avLst>
              <a:gd name="adj1" fmla="val 50016"/>
            </a:avLst>
          </a:prstGeom>
          <a:ln w="28575" cmpd="sng">
            <a:solidFill>
              <a:srgbClr val="AC09D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定理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56429" y="691143"/>
            <a:ext cx="92687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3200" dirty="0"/>
              <a:t>任一有限整环均为域</a:t>
            </a:r>
            <a:r>
              <a:rPr lang="en-US" altLang="zh-CN" sz="3200" dirty="0"/>
              <a:t>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1609" y="127470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568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/>
                  <a:t>我们称环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的一个子集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子环</a:t>
                </a:r>
                <a:r>
                  <a:rPr lang="zh-CN" altLang="en-US" sz="3200" dirty="0"/>
                  <a:t>，如果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的两类二元运算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“+”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和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“∙”</m:t>
                    </m:r>
                  </m:oMath>
                </a14:m>
                <a:r>
                  <a:rPr lang="zh-CN" altLang="en-US" sz="3200" dirty="0"/>
                  <a:t> 下封闭，并且在这两类运算下构成环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568450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244185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2452370"/>
                <a:ext cx="9177020" cy="2368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我们称环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的一个子集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理想</a:t>
                </a:r>
                <a:r>
                  <a:rPr lang="zh-CN" altLang="en-US" sz="3200" dirty="0"/>
                  <a:t>，如果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是</a:t>
                </a:r>
                <a:r>
                  <a:rPr lang="en-US" altLang="zh-CN" sz="32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的子环，并且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·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2452370"/>
                <a:ext cx="9177020" cy="2368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856429" y="4312530"/>
                <a:ext cx="92687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给定交换环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和它的元素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容易验证最小的包含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的理想是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{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𝑟𝑎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𝑛𝑎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进一步地，如果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包含单位元，那么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{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m:rPr>
                        <m:lit/>
                      </m:rP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312530"/>
                <a:ext cx="9268767" cy="1569660"/>
              </a:xfrm>
              <a:prstGeom prst="rect">
                <a:avLst/>
              </a:prstGeom>
              <a:blipFill rotWithShape="1">
                <a:blip r:embed="rId5"/>
                <a:stretch>
                  <a:fillRect l="-3" t="-16" r="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781609" y="431253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014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和环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我们称映射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为一个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同态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，如果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, 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同态映射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核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ker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014980"/>
              </a:xfrm>
              <a:prstGeom prst="rect">
                <a:avLst/>
              </a:prstGeom>
              <a:blipFill rotWithShape="1">
                <a:blip r:embed="rId3"/>
                <a:stretch>
                  <a:fillRect l="-3" t="-9" r="-123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54040" y="468566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15900" progId="Equation.KSEE3">
                  <p:embed/>
                </p:oleObj>
              </mc:Choice>
              <mc:Fallback>
                <p:oleObj r:id="rId4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54040" y="468566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417921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命题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4179217"/>
                <a:ext cx="9268767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sz="3200" dirty="0"/>
                  <a:t>如上定义的核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ker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是环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的理想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179217"/>
                <a:ext cx="9268767" cy="583565"/>
              </a:xfrm>
              <a:prstGeom prst="rect">
                <a:avLst/>
              </a:prstGeom>
              <a:blipFill rotWithShape="1">
                <a:blip r:embed="rId6"/>
                <a:stretch>
                  <a:fillRect l="-3" t="-48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给定交换环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和它的一个理想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∃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zh-CN" altLang="en-US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则我们称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CN" altLang="en-US" sz="3200" b="1" dirty="0"/>
                  <a:t> 为主理想</a:t>
                </a:r>
                <a:r>
                  <a:rPr lang="zh-CN" altLang="en-US" sz="3200" dirty="0"/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也称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是由元素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生成的主理想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00090" y="300164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15900" progId="Equation.KSEE3">
                  <p:embed/>
                </p:oleObj>
              </mc:Choice>
              <mc:Fallback>
                <p:oleObj r:id="rId4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00090" y="300164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2495197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2495197"/>
                <a:ext cx="9268767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验证我们可以在陪集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,+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,+)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上定义如下运算，使其构成环：</a:t>
                </a: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box>
                        <m:boxPr>
                          <m:noBreak m:val="on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∶= </m:t>
                          </m:r>
                        </m:e>
                      </m:box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∙ 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∶=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        (2) 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我们称如上定义的环为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模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zh-CN" altLang="en-US" sz="3200" b="1" dirty="0"/>
                  <a:t>剩余类环</a:t>
                </a:r>
                <a:r>
                  <a:rPr lang="zh-CN" altLang="en-US" sz="3200" dirty="0"/>
                  <a:t>.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495197"/>
                <a:ext cx="9268767" cy="3016210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-68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781609" y="5514487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856429" y="5514487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是由整数集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中由元素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生成的主理想环，即所有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的倍数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于是我们得到剩余类环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5514487"/>
                <a:ext cx="9268767" cy="1076325"/>
              </a:xfrm>
              <a:prstGeom prst="rect">
                <a:avLst/>
              </a:prstGeom>
              <a:blipFill rotWithShape="1">
                <a:blip r:embed="rId7"/>
                <a:stretch>
                  <a:fillRect l="-3" t="-14" r="-140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740" y="690880"/>
                <a:ext cx="9268460" cy="56578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/>
                  <a:t>下面验证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式是良定义的：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假设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即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∃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’</m:t>
                            </m:r>
                          </m:sup>
                        </m:s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’</m:t>
                            </m:r>
                          </m:sup>
                        </m:s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</m:d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</m:d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690880"/>
                <a:ext cx="9268460" cy="5657850"/>
              </a:xfrm>
              <a:prstGeom prst="rect">
                <a:avLst/>
              </a:prstGeom>
              <a:blipFill rotWithShape="1">
                <a:blip r:embed="rId3"/>
                <a:stretch>
                  <a:fillRect b="-13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856740" y="690880"/>
            <a:ext cx="9268460" cy="5657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整数环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Z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作为有理数域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Q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的子环</a:t>
            </a:r>
            <a:r>
              <a:rPr lang="zh-CN" altLang="en-US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。</a:t>
            </a:r>
            <a:endParaRPr lang="en-US" altLang="zh-CN" sz="3200" b="1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第一步：验证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Z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是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Q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的一个子环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 (Subring)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第二步：验证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Z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是不是 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Q </a:t>
            </a:r>
            <a:r>
              <a:rPr lang="zh-CN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的一个理想</a:t>
            </a:r>
            <a:r>
              <a:rPr lang="en-US" altLang="zh-CN" sz="3200" b="1" kern="100" dirty="0">
                <a:effectLst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 (Ideal)</a:t>
            </a:r>
            <a:endParaRPr lang="zh-CN" altLang="zh-CN" sz="32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endParaRPr lang="en-US" altLang="zh-CN" sz="32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3200" b="1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为什么</a:t>
            </a:r>
            <a:r>
              <a:rPr lang="en-US" altLang="zh-CN" sz="3200" b="1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3200" b="1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吸收性质</a:t>
            </a:r>
            <a:r>
              <a:rPr lang="en-US" altLang="zh-CN" sz="3200" b="1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3200" b="1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如此重要？</a:t>
            </a:r>
            <a:endParaRPr lang="zh-CN" altLang="zh-CN" sz="24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r>
              <a:rPr lang="en-US" altLang="zh-CN" sz="3200" kern="0" dirty="0">
                <a:solidFill>
                  <a:srgbClr val="1B1C1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[0.25]=?[0.75]</a:t>
            </a:r>
            <a:endParaRPr lang="zh-CN" altLang="zh-CN" sz="32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668020" algn="l"/>
              </a:tabLst>
            </a:pPr>
            <a:endParaRPr lang="zh-CN" altLang="zh-CN" sz="32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562" y="706846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是由整数集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中由元素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生成的主理想环，即所有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的倍数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于是我们得到剩余类环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-140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00090" y="249428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15900" progId="Equation.KSEE3">
                  <p:embed/>
                </p:oleObj>
              </mc:Choice>
              <mc:Fallback>
                <p:oleObj r:id="rId4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00090" y="249428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1609" y="198783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1987832"/>
                <a:ext cx="9268767" cy="3512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（环同态基本定理）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给定两个环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，以及环同态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我们有核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ker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的理想，且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𝑆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ker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  反之，给定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的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任一理想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，映射</a:t>
                </a: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𝛹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↦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𝛹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是环同态，且其核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ker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987832"/>
                <a:ext cx="9268767" cy="3512820"/>
              </a:xfrm>
              <a:prstGeom prst="rect">
                <a:avLst/>
              </a:prstGeom>
              <a:blipFill rotWithShape="1">
                <a:blip r:embed="rId6"/>
                <a:stretch>
                  <a:fillRect l="-3" t="-8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定理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/>
                  <a:t>给定任一素数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sz="3200" dirty="0"/>
                  <a:t>，剩余类环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CN" sz="3200" dirty="0"/>
                  <a:t> </a:t>
                </a:r>
                <a:r>
                  <a:rPr lang="zh-CN" sz="3200" dirty="0"/>
                  <a:t>构成一个大小为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sz="3200" dirty="0"/>
                  <a:t>的域</a:t>
                </a:r>
                <a:r>
                  <a:rPr lang="en-US" altLang="zh-CN" sz="3200" dirty="0"/>
                  <a:t>.</a:t>
                </a:r>
                <a:endParaRPr 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1767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4741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给定素数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0,1,⋯,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定义映射</a:t>
                </a:r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: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⟶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)⟼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可以验证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在如下定义的两类运算下</a:t>
                </a:r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box>
                        <m:boxPr>
                          <m:noBreak m:val="on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∶=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3200" i="1" dirty="0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 dirty="0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box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box>
                        <m:boxPr>
                          <m:noBreak m:val="on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∶=</m:t>
                          </m:r>
                        </m:e>
                      </m:box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构成阶为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的有限域.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4741426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若存在正整数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使得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·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=0      (∗)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我们称使得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(∗)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式成立的最小正整数为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zh-CN" altLang="en-US" sz="3200" b="1" dirty="0"/>
                  <a:t>特征</a:t>
                </a:r>
                <a:r>
                  <a:rPr lang="zh-CN" altLang="en-US" sz="3200" dirty="0"/>
                  <a:t>，记为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char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如果不存在这样的正整数，则称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zh-CN" altLang="en-US" sz="3200" b="1" dirty="0"/>
                  <a:t>特征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0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3" t="-9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666275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3666275"/>
                <a:ext cx="9268767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特征为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的域</a:t>
                </a:r>
                <a14:m>
                  <m:oMath xmlns:m="http://schemas.openxmlformats.org/officeDocument/2006/math">
                    <m:r>
                      <a:rPr lang="zh-CN" altLang="en-US" sz="3200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ℚ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ℂ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666275"/>
                <a:ext cx="9268767" cy="583565"/>
              </a:xfrm>
              <a:prstGeom prst="rect">
                <a:avLst/>
              </a:prstGeom>
              <a:blipFill rotWithShape="1">
                <a:blip r:embed="rId4"/>
                <a:stretch>
                  <a:fillRect l="-3" t="-72" r="7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为一整环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的特征为某一正整数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，则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必定为素数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5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81609" y="356388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56429" y="3563883"/>
            <a:ext cx="92687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sz="3200" dirty="0">
                <a:latin typeface="Cambria Math" panose="02040503050406030204" pitchFamily="18" charset="0"/>
                <a:cs typeface="Cambria Math" panose="02040503050406030204" pitchFamily="18" charset="0"/>
              </a:rPr>
              <a:t>有限域的特征是素数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81609" y="1767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1609" y="414744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754822" y="1190581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54822" y="1190581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11161" y="684133"/>
                <a:ext cx="9268767" cy="191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为一个交换环且其特征为素数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161" y="684133"/>
                <a:ext cx="9268767" cy="1910715"/>
              </a:xfrm>
              <a:prstGeom prst="rect">
                <a:avLst/>
              </a:prstGeom>
              <a:blipFill rotWithShape="1">
                <a:blip r:embed="rId5"/>
                <a:stretch>
                  <a:fillRect l="-2" t="-12" r="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36341" y="682318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698262" cy="493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及自变量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上的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多项式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可以写成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其中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是非负整数，系数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中的元素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给定两个多项式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，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698262" cy="4930068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5198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2.2 </a:t>
            </a:r>
            <a:r>
              <a:rPr lang="zh-CN" altLang="en-US" sz="3600" b="1" dirty="0"/>
              <a:t>域上多项式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20215" y="667385"/>
                <a:ext cx="9268767" cy="552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不妨假定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我们定义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=0,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上全体多项式在以上两类运算下构成的环为</a:t>
                </a:r>
                <a:r>
                  <a:rPr lang="zh-CN" altLang="en-US" sz="3200" b="1" dirty="0"/>
                  <a:t>多项式环</a:t>
                </a:r>
                <a:r>
                  <a:rPr lang="zh-CN" altLang="en-US" sz="3200" dirty="0">
                    <a:solidFill>
                      <a:schemeClr val="accent1">
                        <a:lumMod val="75000"/>
                      </a:schemeClr>
                    </a:solidFill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并记成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15" y="667385"/>
                <a:ext cx="9268767" cy="5523230"/>
              </a:xfrm>
              <a:prstGeom prst="rect">
                <a:avLst/>
              </a:prstGeom>
              <a:blipFill rotWithShape="1">
                <a:blip r:embed="rId3"/>
                <a:stretch>
                  <a:fillRect l="-3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518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上多项式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</a:t>
                </a:r>
              </a:p>
              <a:p>
                <a:pPr lvl="1" indent="45720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·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dirty="0">
                    <a:latin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1" dirty="0">
                    <a:latin typeface="+mn-ea"/>
                    <a:cs typeface="Cambria Math" panose="02040503050406030204" pitchFamily="18" charset="0"/>
                  </a:rPr>
                  <a:t>首项系数</a:t>
                </a:r>
                <a:endParaRPr lang="en-US" altLang="zh-CN" sz="3200" b="1" dirty="0">
                  <a:latin typeface="+mn-ea"/>
                  <a:cs typeface="Cambria Math" panose="02040503050406030204" pitchFamily="18" charset="0"/>
                </a:endParaRPr>
              </a:p>
              <a:p>
                <a:pPr marL="457200" lvl="1" indent="45720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·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常数项</a:t>
                </a:r>
                <a:endParaRPr lang="en-US" altLang="zh-CN" sz="3200" b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lvl="1" indent="45720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·     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: 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多项式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en-US" altLang="zh-CN" sz="3200" b="1" dirty="0">
                    <a:latin typeface="+mn-ea"/>
                    <a:cs typeface="Cambria Math" panose="02040503050406030204" pitchFamily="18" charset="0"/>
                  </a:rPr>
                  <a:t>度数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，记为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CN" sz="32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lvl="1" indent="45720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·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=−∞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lvl="1" indent="45720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·    </a:t>
                </a:r>
                <a:r>
                  <a:rPr lang="en-US" altLang="zh-CN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首 1 </a:t>
                </a:r>
                <a:r>
                  <a:rPr lang="en-US" altLang="zh-CN" sz="3200" b="1" dirty="0" err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多项式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=1.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5180965"/>
              </a:xfrm>
              <a:prstGeom prst="rect">
                <a:avLst/>
              </a:prstGeom>
              <a:blipFill rotWithShape="1">
                <a:blip r:embed="rId3"/>
                <a:stretch>
                  <a:fillRect l="-3" t="-5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815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)≤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max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),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𝑓𝑔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)≤</m:t>
                      </m:r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是一个整环，则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𝑓𝑔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deg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815080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8" y="718303"/>
                <a:ext cx="92687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从现在开始我们令</a:t>
                </a:r>
                <a:r>
                  <a:rPr lang="en-US" altLang="zh-CN" sz="3200" b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b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为一个域并考虑多项式环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1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3200" b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8" y="718303"/>
                <a:ext cx="9268767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3" t="-20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81609" y="19325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</a:rPr>
              <a:t>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1932568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若存在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使得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成立，则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称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1" dirty="0"/>
                  <a:t>整除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记为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856429" y="1932568"/>
                <a:ext cx="9268767" cy="1077218"/>
              </a:xfrm>
              <a:prstGeom prst="rect">
                <a:avLst/>
              </a:prstGeom>
              <a:blipFill rotWithShape="1">
                <a:blip r:embed="rId7"/>
                <a:stretch>
                  <a:fillRect l="-3" t="-24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63912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3639122"/>
                <a:ext cx="9268767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（带余除法）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给定非零多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项式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∀ 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𝔽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∃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𝔽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𝑞𝑔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或者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func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 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639122"/>
                <a:ext cx="9268767" cy="1877437"/>
              </a:xfrm>
              <a:prstGeom prst="rect">
                <a:avLst/>
              </a:prstGeom>
              <a:blipFill rotWithShape="1">
                <a:blip r:embed="rId8"/>
                <a:stretch>
                  <a:fillRect l="-3" t="-30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81609" y="551655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56429" y="551655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略</a:t>
            </a:r>
            <a:r>
              <a:rPr lang="en-US" altLang="zh-CN" sz="3200" dirty="0"/>
              <a:t>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）多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项式环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是主理想环. 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）且对于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中的任一非零理想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我们均可以找到唯一的首1多项式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使得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=(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2215991"/>
              </a:xfrm>
              <a:prstGeom prst="rect">
                <a:avLst/>
              </a:prstGeom>
              <a:blipFill rotWithShape="1">
                <a:blip r:embed="rId3"/>
                <a:stretch>
                  <a:fillRect l="-3" t="-12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给定两个不全为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的多项式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存在唯一一个首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多项式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满足以下性质：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1≤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≤2</m:t>
                    </m:r>
                  </m:oMath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）每个整除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都会整除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我们还可以将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写成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       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𝔽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816429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85" y="4352290"/>
            <a:ext cx="10750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AC09DB"/>
                </a:solidFill>
                <a:sym typeface="+mn-ea"/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740" y="4352290"/>
                <a:ext cx="9268460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3200" dirty="0">
                    <a:sym typeface="+mn-ea"/>
                  </a:rPr>
                  <a:t>利用带余除法找出一组</a:t>
                </a:r>
                <a:r>
                  <a:rPr lang="en-US" altLang="zh-CN" sz="3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>
                    <a:sym typeface="+mn-ea"/>
                  </a:rPr>
                  <a:t> </a:t>
                </a:r>
                <a:r>
                  <a:rPr lang="zh-CN" altLang="en-US" sz="3200" dirty="0">
                    <a:sym typeface="+mn-ea"/>
                  </a:rPr>
                  <a:t>和</a:t>
                </a:r>
                <a:r>
                  <a:rPr lang="en-US" altLang="zh-CN" sz="3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40" y="4352290"/>
                <a:ext cx="9268460" cy="5835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我们称上述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和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最大公因子</a:t>
                </a:r>
                <a:r>
                  <a:rPr lang="zh-CN" altLang="en-US" sz="3200" dirty="0"/>
                  <a:t>，并记为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gcd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互素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609" y="1767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</a:rPr>
              <a:t>注记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1767468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我们可以将上述定义类比地推广到任意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767468"/>
                <a:ext cx="9268767" cy="1076325"/>
              </a:xfrm>
              <a:prstGeom prst="rect">
                <a:avLst/>
              </a:prstGeom>
              <a:blipFill rotWithShape="1">
                <a:blip r:embed="rId4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268767" cy="2368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给定多项式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若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不是常数，且满足以下性质：</a:t>
                </a:r>
              </a:p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𝑏𝑐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⇒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或</a:t>
                </a: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则称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不可约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268767" cy="2368550"/>
              </a:xfrm>
              <a:prstGeom prst="rect">
                <a:avLst/>
              </a:prstGeom>
              <a:blipFill rotWithShape="1">
                <a:blip r:embed="rId3"/>
                <a:stretch>
                  <a:fillRect l="-3" t="-11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5198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2.3 </a:t>
            </a:r>
            <a:r>
              <a:rPr lang="zh-CN" altLang="en-US" sz="3600" b="1" dirty="0">
                <a:latin typeface="+mn-ea"/>
              </a:rPr>
              <a:t>不可约多项式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剩余类环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构成一个域当且仅当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上不可约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076325"/>
              </a:xfrm>
              <a:prstGeom prst="rect">
                <a:avLst/>
              </a:prstGeom>
              <a:blipFill rotWithShape="1">
                <a:blip r:embed="rId6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270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给定不可约多项式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若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则存在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1≤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使得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270669"/>
              </a:xfrm>
              <a:prstGeom prst="rect">
                <a:avLst/>
              </a:prstGeom>
              <a:blipFill rotWithShape="1">
                <a:blip r:embed="rId6"/>
                <a:stretch>
                  <a:fillRect l="-3" t="-21" r="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421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/>
                  <a:t>（域上多项式唯一分解定理）</a:t>
                </a:r>
                <a:r>
                  <a:rPr lang="zh-CN" altLang="en-US" sz="3200" dirty="0"/>
                  <a:t>给定非常数多项式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我们有以下分解式：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sSubSup>
                        <m:sSub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</m:t>
                      </m:r>
                      <m:sSubSup>
                        <m:sSub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            (∗)   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32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其中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&gt;0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1≤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中不同的首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不可约多项式，并且分解式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(∗)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在不计次序的意义下是唯一的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421514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=0</m:t>
                    </m:r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我们称元素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268767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10342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2.4 </a:t>
            </a:r>
            <a:r>
              <a:rPr lang="zh-CN" altLang="en-US" sz="3600" b="1" dirty="0">
                <a:latin typeface="+mn-ea"/>
              </a:rPr>
              <a:t>多项式的零点和</a:t>
            </a:r>
            <a:r>
              <a:rPr lang="en-US" altLang="zh-CN" sz="3600" b="1" dirty="0">
                <a:latin typeface="+mn-ea"/>
              </a:rPr>
              <a:t>Lagrange</a:t>
            </a:r>
            <a:r>
              <a:rPr lang="zh-CN" altLang="en-US" sz="3600" b="1" dirty="0">
                <a:latin typeface="+mn-ea"/>
              </a:rPr>
              <a:t>插值多项式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81609" y="261080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2610802"/>
                <a:ext cx="9268767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当且仅当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)|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610802"/>
                <a:ext cx="9268767" cy="583565"/>
              </a:xfrm>
              <a:prstGeom prst="rect">
                <a:avLst/>
              </a:prstGeom>
              <a:blipFill rotWithShape="1">
                <a:blip r:embed="rId4"/>
                <a:stretch>
                  <a:fillRect l="-3" t="-54" r="7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955415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3955415"/>
                <a:ext cx="9987228" cy="2378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若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</a:t>
                </a: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∤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</a:t>
                </a:r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是根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重数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，特别地</a:t>
                </a:r>
              </a:p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𝑘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=1: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单根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𝑘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≥2: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重根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955415"/>
                <a:ext cx="9987228" cy="2378728"/>
              </a:xfrm>
              <a:prstGeom prst="rect">
                <a:avLst/>
              </a:prstGeom>
              <a:blipFill rotWithShape="1">
                <a:blip r:embed="rId5"/>
                <a:stretch>
                  <a:fillRect l="-3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35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/>
                  <a:t>（度数紧箍咒）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)&gt;0.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中的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个不同的根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其对应的重数分别为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那么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</m:t>
                      </m:r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特别地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从而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中至多有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个不同的根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350895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sz="3200" dirty="0"/>
                  <a:t>给定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其</a:t>
                </a:r>
                <a:r>
                  <a:rPr lang="zh-CN" altLang="en-US" sz="3200" b="1" dirty="0"/>
                  <a:t>形式</a:t>
                </a:r>
                <a:r>
                  <a:rPr lang="zh-CN" altLang="en-US" sz="3200" b="1" dirty="0">
                    <a:solidFill>
                      <a:schemeClr val="tx1"/>
                    </a:solidFill>
                  </a:rPr>
                  <a:t>导数</a:t>
                </a:r>
                <a:r>
                  <a:rPr lang="zh-CN" altLang="en-US" sz="3200" dirty="0"/>
                  <a:t>为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’=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+⋯+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3" t="-19" r="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81298" y="2894016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b="1" dirty="0">
                <a:solidFill>
                  <a:srgbClr val="AC09DB"/>
                </a:solidFill>
                <a:sym typeface="+mn-ea"/>
              </a:rPr>
              <a:t>练习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56429" y="2893734"/>
                <a:ext cx="9177020" cy="1229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元素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是多项式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的一个重根当且仅当</a:t>
                </a:r>
                <a:r>
                  <a:rPr lang="en-US" altLang="zh-CN" sz="3200" dirty="0"/>
                  <a:t>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’(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)=0.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2893734"/>
                <a:ext cx="9177020" cy="1229995"/>
              </a:xfrm>
              <a:prstGeom prst="rect">
                <a:avLst/>
              </a:prstGeom>
              <a:blipFill rotWithShape="1">
                <a:blip r:embed="rId4"/>
                <a:stretch>
                  <a:fillRect l="-4" t="-3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856429" y="4964675"/>
                <a:ext cx="9268767" cy="1076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], </m:t>
                    </m:r>
                    <m:r>
                      <m:rPr>
                        <m:sty m:val="p"/>
                      </m:rPr>
                      <a:rPr lang="en-US" altLang="zh-CN" sz="3200" i="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)=2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或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3.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是不可约多项式当且仅当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中没有根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964675"/>
                <a:ext cx="9268767" cy="1076960"/>
              </a:xfrm>
              <a:prstGeom prst="rect">
                <a:avLst/>
              </a:prstGeom>
              <a:blipFill rotWithShape="1">
                <a:blip r:embed="rId5"/>
                <a:stretch>
                  <a:fillRect l="-3" t="-23" r="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781609" y="4964675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Lagrange</a:t>
                </a:r>
                <a:r>
                  <a:rPr lang="zh-CN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插值公式）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≥0.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中不同的元素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以及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中任意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我们可以找到唯一的次数不高于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的多项式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],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满足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0≤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32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3" t="-13" r="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3.1 </a:t>
            </a:r>
            <a:r>
              <a:rPr lang="zh-CN" altLang="en-US" sz="3600" b="1" dirty="0">
                <a:latin typeface="+mn-ea"/>
              </a:rPr>
              <a:t>子域和扩域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4810" y="148701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84810" y="342267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059631" y="1487013"/>
                <a:ext cx="896454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/>
                  <a:t>给定域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若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/>
                  <a:t> 的子集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/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/>
                  <a:t> 的运算下也构成一个域，则我们称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/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/>
                  <a:t>的</a:t>
                </a:r>
                <a:r>
                  <a:rPr lang="zh-CN" altLang="en-US" sz="3200" b="1"/>
                  <a:t>子域</a:t>
                </a:r>
                <a:r>
                  <a:rPr lang="en-US" altLang="zh-CN" sz="3200"/>
                  <a:t>. </a:t>
                </a:r>
                <a:r>
                  <a:rPr lang="zh-CN" altLang="en-US" sz="3200"/>
                  <a:t>也称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/>
                  <a:t> 的</a:t>
                </a:r>
                <a:r>
                  <a:rPr lang="zh-CN" altLang="en-US" sz="3200" b="1"/>
                  <a:t>扩域</a:t>
                </a:r>
                <a:r>
                  <a:rPr lang="en-US" altLang="zh-CN" sz="3200"/>
                  <a:t>.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1" y="1487013"/>
                <a:ext cx="8964540" cy="1569660"/>
              </a:xfrm>
              <a:prstGeom prst="rect">
                <a:avLst/>
              </a:prstGeom>
              <a:blipFill rotWithShape="1">
                <a:blip r:embed="rId2"/>
                <a:stretch>
                  <a:fillRect l="-4" t="-30" r="6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059630" y="3422675"/>
                <a:ext cx="896454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域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是其本身的一个子域，我们称之为</a:t>
                </a:r>
                <a:r>
                  <a:rPr lang="zh-CN" altLang="en-US" sz="3200" b="1" dirty="0"/>
                  <a:t>平凡子域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其余与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不同的子域称为</a:t>
                </a:r>
                <a:r>
                  <a:rPr lang="zh-CN" altLang="en-US" sz="3200" b="1" dirty="0"/>
                  <a:t>真子域</a:t>
                </a:r>
                <a:r>
                  <a:rPr lang="en-US" altLang="zh-CN" sz="3200" dirty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0" y="3422675"/>
                <a:ext cx="8964540" cy="1354217"/>
              </a:xfrm>
              <a:prstGeom prst="rect">
                <a:avLst/>
              </a:prstGeom>
              <a:blipFill rotWithShape="1">
                <a:blip r:embed="rId3"/>
                <a:stretch>
                  <a:fillRect l="-4" t="-2" r="6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84810" y="4885769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059631" y="4885769"/>
                <a:ext cx="89645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/>
                  <a:t>若域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/>
                  <a:t> 中没有真子域，则称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zh-CN" altLang="en-US" sz="3200"/>
                  <a:t>为</a:t>
                </a:r>
                <a:r>
                  <a:rPr lang="zh-CN" altLang="en-US" sz="3200" b="1"/>
                  <a:t>素域</a:t>
                </a:r>
                <a:r>
                  <a:rPr lang="en-US" altLang="zh-CN" sz="3200"/>
                  <a:t>.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1" y="4885769"/>
                <a:ext cx="896454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4" t="-14" r="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2938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给定域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:</a:t>
                </a: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1)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</a:rPr>
                      <m:t>char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</a:rPr>
                      <m:t>=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</a:rPr>
                      <m:t>𝑝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charset="-122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为某一素数</m:t>
                    </m:r>
                    <m:r>
                      <a:rPr lang="zh-CN" altLang="en-US" sz="3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，则</m:t>
                    </m:r>
                    <m:r>
                      <a:rPr lang="en-US" altLang="zh-CN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charset="-122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包含的素域同构于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 lvl="0"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2)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char</m:t>
                    </m:r>
                    <m:d>
                      <m:dPr>
                        <m:ctrlPr>
                          <a:rPr kumimoji="0" lang="en-US" altLang="zh-CN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=0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charset="-122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zh-CN" alt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则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3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charset="-122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+mn-cs"/>
                  </a:rPr>
                  <a:t>包含的素域同构于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862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+mn-cs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2938240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825288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域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以及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𝑀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⊂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我们定义域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中所有同时包含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和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3200" dirty="0"/>
                  <a:t> 的子域的交，并称之为由域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添加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3200" dirty="0"/>
                  <a:t> 中元素所得到的</a:t>
                </a:r>
                <a:r>
                  <a:rPr lang="zh-CN" altLang="en-US" sz="3200" b="1" dirty="0"/>
                  <a:t>扩域</a:t>
                </a:r>
                <a:r>
                  <a:rPr lang="en-US" altLang="zh-CN" sz="32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1) </a:t>
                </a:r>
                <a:r>
                  <a:rPr lang="zh-CN" altLang="en-US" sz="3200" dirty="0"/>
                  <a:t>若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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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/>
                  <a:t> 我们也记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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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/>
                  <a:t>2) </a:t>
                </a:r>
                <a:r>
                  <a:rPr lang="zh-CN" altLang="en-US" sz="3200" dirty="0"/>
                  <a:t>若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/>
                  <a:t> 则称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()</m:t>
                    </m:r>
                  </m:oMath>
                </a14:m>
                <a:r>
                  <a:rPr lang="zh-CN" altLang="en-US" sz="3200" dirty="0"/>
                  <a:t> 为域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单扩张</a:t>
                </a:r>
                <a:r>
                  <a:rPr lang="zh-CN" altLang="en-US" sz="3200" dirty="0"/>
                  <a:t>，并称元素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上的一个</a:t>
                </a:r>
                <a:r>
                  <a:rPr lang="zh-CN" altLang="en-US" sz="3200" b="1" dirty="0"/>
                  <a:t>定义元</a:t>
                </a:r>
                <a:r>
                  <a:rPr lang="en-US" altLang="zh-CN" sz="3200" b="1" dirty="0"/>
                  <a:t>.</a:t>
                </a:r>
              </a:p>
              <a:p>
                <a:r>
                  <a:rPr lang="en-US" altLang="zh-CN" sz="3200" dirty="0"/>
                  <a:t>3) </a:t>
                </a:r>
                <a:r>
                  <a:rPr lang="zh-CN" altLang="en-US" sz="3200" dirty="0"/>
                  <a:t>可以验证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中最小的同时包含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和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3200" dirty="0"/>
                  <a:t> 的子域</a:t>
                </a:r>
                <a:r>
                  <a:rPr lang="en-US" altLang="zh-CN" sz="3200" dirty="0"/>
                  <a:t>.</a:t>
                </a:r>
                <a:endParaRPr lang="en-US" altLang="zh-CN" sz="3200" b="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4493538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3" b="-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825288" cy="384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域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以及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/>
                  <a:t> 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/>
                  <a:t> 满足代数方程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=0, 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(</a:t>
                </a:r>
                <a:r>
                  <a:rPr lang="zh-CN" altLang="en-US" sz="3200" dirty="0"/>
                  <a:t>不全为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dirty="0"/>
                  <a:t>)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则称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上是</a:t>
                </a:r>
                <a:r>
                  <a:rPr lang="zh-CN" altLang="en-US" sz="3200" b="1" dirty="0"/>
                  <a:t>代数</a:t>
                </a:r>
                <a:r>
                  <a:rPr lang="zh-CN" altLang="en-US" sz="3200" dirty="0"/>
                  <a:t>的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若不存在如上的代数方程，则称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上是</a:t>
                </a:r>
                <a:r>
                  <a:rPr lang="zh-CN" altLang="en-US" sz="3200" b="1" dirty="0"/>
                  <a:t>超越</a:t>
                </a:r>
                <a:r>
                  <a:rPr lang="zh-CN" altLang="en-US" sz="3200" dirty="0"/>
                  <a:t>的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如果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中的每一个元素在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上都是代数的，则称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代数扩张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反之，若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  中存在至少一个在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上超越的元素，则称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超越扩张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3847207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3" b="-6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假定元素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上的代数元</a:t>
                </a:r>
                <a:r>
                  <a:rPr lang="en-US" altLang="zh-CN" sz="3200" dirty="0">
                    <a:latin typeface="+mn-ea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令</a:t>
                </a:r>
                <a:endParaRPr lang="en-US" altLang="zh-CN" sz="3200" dirty="0">
                  <a:latin typeface="+mn-ea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</m:t>
                              </m:r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+mn-ea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则存在唯一的首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多项式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 使得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𝐽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 并且多项式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 上不可约</a:t>
                </a:r>
                <a:r>
                  <a:rPr lang="en-US" altLang="zh-CN" sz="3200" dirty="0">
                    <a:latin typeface="+mn-ea"/>
                    <a:cs typeface="Cambria Math" panose="02040503050406030204" pitchFamily="18" charset="0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2369880"/>
              </a:xfrm>
              <a:prstGeom prst="rect">
                <a:avLst/>
              </a:prstGeom>
              <a:blipFill rotWithShape="1">
                <a:blip r:embed="rId6"/>
                <a:stretch>
                  <a:fillRect l="-3" t="-11" r="7" b="-1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781609" y="3504590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56429" y="3504590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0" dirty="0">
                    <a:latin typeface="+mn-ea"/>
                  </a:rPr>
                  <a:t>我们称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b="0" dirty="0">
                    <a:latin typeface="+mn-ea"/>
                  </a:rPr>
                  <a:t> 为元素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b="0" dirty="0">
                    <a:latin typeface="+mn-ea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b="0" dirty="0">
                    <a:latin typeface="+mn-ea"/>
                  </a:rPr>
                  <a:t> 上的</a:t>
                </a:r>
                <a:r>
                  <a:rPr lang="zh-CN" altLang="en-US" sz="3200" b="1" dirty="0">
                    <a:latin typeface="+mn-ea"/>
                  </a:rPr>
                  <a:t>极小多项式</a:t>
                </a:r>
                <a:r>
                  <a:rPr lang="zh-CN" altLang="en-US" sz="3200" dirty="0">
                    <a:latin typeface="+mn-ea"/>
                  </a:rPr>
                  <a:t>，也将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 的次数称为元素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 上的</a:t>
                </a:r>
                <a:r>
                  <a:rPr lang="zh-CN" altLang="en-US" sz="3200" b="1" dirty="0">
                    <a:latin typeface="+mn-ea"/>
                  </a:rPr>
                  <a:t>次数</a:t>
                </a:r>
                <a:r>
                  <a:rPr lang="en-US" altLang="zh-CN" sz="3200" dirty="0">
                    <a:latin typeface="+mn-ea"/>
                  </a:rPr>
                  <a:t>.</a:t>
                </a:r>
                <a:endParaRPr lang="en-US" altLang="zh-CN" sz="3200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3504590"/>
                <a:ext cx="9268767" cy="1077218"/>
              </a:xfrm>
              <a:prstGeom prst="rect">
                <a:avLst/>
              </a:prstGeom>
              <a:blipFill rotWithShape="1">
                <a:blip r:embed="rId7"/>
                <a:stretch>
                  <a:fillRect l="-3" t="-2" r="7" b="-15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假定元素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是域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上的代数元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我们有以下关于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的极小多项式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的性质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:</a:t>
                </a: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中的不可约多项式</a:t>
                </a:r>
                <a:r>
                  <a:rPr lang="en-US" altLang="zh-CN" sz="3200" dirty="0">
                    <a:latin typeface="+mn-ea"/>
                  </a:rPr>
                  <a:t>.</a:t>
                </a: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2)</a:t>
                </a:r>
                <a:r>
                  <a:rPr kumimoji="0" lang="en-US" altLang="zh-CN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对于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有 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当且仅当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defRPr/>
                </a:pPr>
                <a:r>
                  <a:rPr lang="en-US" altLang="zh-CN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3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中以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为根的次数最低的首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1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多项式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3508653"/>
              </a:xfrm>
              <a:prstGeom prst="rect">
                <a:avLst/>
              </a:prstGeom>
              <a:blipFill rotWithShape="1">
                <a:blip r:embed="rId6"/>
                <a:stretch>
                  <a:fillRect l="-3" t="-7" r="7" b="-7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904880" y="1048902"/>
                <a:ext cx="9867809" cy="5601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一个域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向量空间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是一个非空集合，其中的元素称之为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向量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，并且对以下两种运算封闭：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）加法：对于任意的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𝑣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𝑉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𝑣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𝑉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）数乘：对于任意的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𝑉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𝑉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b="0" dirty="0">
                    <a:cs typeface="Cambria Math" panose="02040503050406030204" pitchFamily="18" charset="0"/>
                  </a:rPr>
                  <a:t>另外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,+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构成一个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Abel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且数乘满足如下性质：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:r>
                  <a:rPr lang="en-US" altLang="zh-CN" sz="3200" b="0" dirty="0">
                    <a:solidFill>
                      <a:srgbClr val="3B862E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∀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𝑉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）结合律：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b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3</a:t>
                </a:r>
                <a:r>
                  <a:rPr lang="zh-CN" altLang="en-US" sz="3200" b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）线性性：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𝑘𝑣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altLang="zh-CN" sz="3200" b="0" i="1" dirty="0">
                  <a:solidFill>
                    <a:srgbClr val="3B862E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b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4</a:t>
                </a:r>
                <a:r>
                  <a:rPr lang="zh-CN" altLang="en-US" sz="3200" b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）分配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altLang="zh-CN" sz="3200" b="0" i="1" dirty="0">
                  <a:solidFill>
                    <a:srgbClr val="3B862E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904880" y="1048902"/>
                <a:ext cx="9867809" cy="5601533"/>
              </a:xfrm>
              <a:prstGeom prst="rect">
                <a:avLst/>
              </a:prstGeom>
              <a:blipFill rotWithShape="1">
                <a:blip r:embed="rId5"/>
                <a:stretch>
                  <a:fillRect l="-5" t="-9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66274" y="1048902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3.2 </a:t>
            </a:r>
            <a:r>
              <a:rPr lang="zh-CN" altLang="en-US" sz="3600" b="1" dirty="0">
                <a:latin typeface="+mn-ea"/>
              </a:rPr>
              <a:t>域扩张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C09DB"/>
                </a:solidFill>
              </a:rPr>
              <a:t>练习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给定域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，可以验证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上的向量空间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3" t="-45" r="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1665516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1665516"/>
                <a:ext cx="92687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>
                    <a:latin typeface="+mn-ea"/>
                  </a:rPr>
                  <a:t>给定域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>
                    <a:latin typeface="+mn-ea"/>
                  </a:rPr>
                  <a:t> 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>
                    <a:latin typeface="+mn-ea"/>
                  </a:rPr>
                  <a:t> 作为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>
                    <a:latin typeface="+mn-ea"/>
                  </a:rPr>
                  <a:t> 上的向量空间的维数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𝑑𝑖𝑚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>
                    <a:latin typeface="+mn-ea"/>
                  </a:rPr>
                  <a:t> 是有限的，则我们称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>
                    <a:latin typeface="+mn-ea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>
                    <a:latin typeface="+mn-ea"/>
                  </a:rPr>
                  <a:t> 的</a:t>
                </a:r>
                <a:r>
                  <a:rPr lang="zh-CN" altLang="en-US" sz="3200" b="1">
                    <a:latin typeface="+mn-ea"/>
                  </a:rPr>
                  <a:t>有限扩张</a:t>
                </a:r>
                <a:r>
                  <a:rPr lang="zh-CN" altLang="en-US" sz="3200">
                    <a:latin typeface="+mn-ea"/>
                  </a:rPr>
                  <a:t>，也称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>
                    <a:latin typeface="+mn-ea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>
                    <a:latin typeface="+mn-ea"/>
                  </a:rPr>
                  <a:t> 上的</a:t>
                </a:r>
                <a:r>
                  <a:rPr lang="zh-CN" altLang="en-US" sz="3200" b="1">
                    <a:latin typeface="+mn-ea"/>
                  </a:rPr>
                  <a:t>次数</a:t>
                </a:r>
                <a:r>
                  <a:rPr lang="zh-CN" altLang="en-US" sz="3200">
                    <a:latin typeface="+mn-ea"/>
                  </a:rPr>
                  <a:t>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𝑑𝑖𝑚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3200">
                    <a:latin typeface="+mn-ea"/>
                  </a:rPr>
                  <a:t>，记为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665516"/>
                <a:ext cx="9268767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3" t="-35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solidFill>
                      <a:srgbClr val="C00000"/>
                    </a:solidFill>
                  </a:rPr>
                  <a:t>（链式法则）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假定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均为有限扩张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320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320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320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723549"/>
              </a:xfrm>
              <a:prstGeom prst="rect">
                <a:avLst/>
              </a:prstGeom>
              <a:blipFill rotWithShape="1">
                <a:blip r:embed="rId6"/>
                <a:stretch>
                  <a:fillRect l="-3" t="-15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域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的任一有限扩张都是代数扩张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</a:t>
                </a:r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231106"/>
              </a:xfrm>
              <a:prstGeom prst="rect">
                <a:avLst/>
              </a:prstGeom>
              <a:blipFill rotWithShape="1">
                <a:blip r:embed="rId6"/>
                <a:stretch>
                  <a:fillRect l="-3" t="-21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是域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上次数为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的代数元，其在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上的极小多项式是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3200" dirty="0">
                    <a:latin typeface="+mn-ea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+mn-ea"/>
                    <a:cs typeface="Cambria Math" panose="02040503050406030204" pitchFamily="18" charset="0"/>
                  </a:rPr>
                  <a:t>我们有</a:t>
                </a:r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1)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≅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.</a:t>
                </a:r>
                <a:r>
                  <a:rPr lang="zh-CN" altLang="en-US" sz="3200" dirty="0"/>
                  <a:t> </a:t>
                </a:r>
                <a:endParaRPr lang="en-US" altLang="zh-CN" sz="3200" dirty="0">
                  <a:latin typeface="+mn-ea"/>
                </a:endParaRPr>
              </a:p>
              <a:p>
                <a:pPr lvl="0">
                  <a:spcAft>
                    <a:spcPts val="1200"/>
                  </a:spcAft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2)</a:t>
                </a:r>
                <a:r>
                  <a:rPr kumimoji="0" lang="en-US" altLang="zh-CN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</m:t>
                            </m:r>
                          </m:e>
                        </m:d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: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3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charset="-122"/>
                            <a:cs typeface="+mn-cs"/>
                          </a:rPr>
                          <m:t>{1,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  <m:sup>
                        <m:r>
                          <a:rPr kumimoji="0" lang="en-US" altLang="zh-CN" sz="3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charset="-122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·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·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·</m:t>
                    </m:r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,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  <m:sup>
                        <m:r>
                          <a:rPr kumimoji="0" lang="en-US" altLang="zh-CN" sz="3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3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charset="-122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US" altLang="zh-CN" sz="3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}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上的一组基</a:t>
                </a:r>
                <a:r>
                  <a:rPr kumimoji="0" lang="en-US" altLang="zh-CN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 </a:t>
                </a:r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故而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中的任一元素均可以唯一表示成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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</m:oMath>
                </a14:m>
                <a:r>
                  <a:rPr kumimoji="0" lang="zh-CN" altLang="en-US" sz="3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 0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−1.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defRPr/>
                </a:pPr>
                <a:r>
                  <a:rPr lang="en-US" altLang="zh-CN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3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)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任一元素 </a:t>
                </a:r>
                <a14:m>
                  <m:oMath xmlns:m="http://schemas.openxmlformats.org/officeDocument/2006/math">
                    <m:r>
                      <a:rPr lang="el-GR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l-GR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上均是代数的，且其在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上的次数整除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𝑛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5478423"/>
              </a:xfrm>
              <a:prstGeom prst="rect">
                <a:avLst/>
              </a:prstGeom>
              <a:blipFill rotWithShape="1">
                <a:blip r:embed="rId6"/>
                <a:stretch>
                  <a:fillRect l="-3" t="-5" r="7" b="-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域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上的不可约多项式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则存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的一个以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的某个根为定义元的单扩张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077218"/>
              </a:xfrm>
              <a:prstGeom prst="rect">
                <a:avLst/>
              </a:prstGeom>
              <a:blipFill rotWithShape="1">
                <a:blip r:embed="rId6"/>
                <a:stretch>
                  <a:fillRect l="-3" t="-24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为域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上的不可约多项式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l-GR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的两个根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l-GR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≅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，且存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在一个保持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中元素不动同时将 </a:t>
                </a:r>
                <a14:m>
                  <m:oMath xmlns:m="http://schemas.openxmlformats.org/officeDocument/2006/math">
                    <m:r>
                      <a:rPr lang="el-GR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映射到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𝛽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的同构映射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2215991"/>
              </a:xfrm>
              <a:prstGeom prst="rect">
                <a:avLst/>
              </a:prstGeom>
              <a:blipFill rotWithShape="1">
                <a:blip r:embed="rId6"/>
                <a:stretch>
                  <a:fillRect l="-3" t="-12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825288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为一非常数多项式，且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的扩域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</a:t>
                </a:r>
                <a:r>
                  <a:rPr lang="zh-CN" altLang="en-US" sz="3200" dirty="0">
                    <a:latin typeface="等线" panose="02010600030101010101" charset="-122"/>
                    <a:ea typeface="等线" panose="02010600030101010101" charset="-122"/>
                  </a:rPr>
                  <a:t>若</a:t>
                </a:r>
                <a:r>
                  <a:rPr lang="zh-CN" altLang="en-US" sz="3200" dirty="0">
                    <a:solidFill>
                      <a:srgbClr val="3B862E"/>
                    </a:solidFill>
                    <a:latin typeface="等线" panose="02010600030101010101" charset="-122"/>
                    <a:ea typeface="等线" panose="02010600030101010101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∃</m:t>
                    </m:r>
                    <m:sSub>
                      <m:sSubPr>
                        <m:ctrlP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等线" panose="02010600030101010101" charset="-122"/>
                    <a:ea typeface="等线" panose="02010600030101010101" charset="-122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使得</a:t>
                </a:r>
                <a:endParaRPr lang="en-US" altLang="zh-CN" sz="3200" dirty="0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B862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charset="-122"/>
                          <a:cs typeface="+mn-cs"/>
                        </a:rPr>
                        <m:t>𝑓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B862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charset="-122"/>
                          <a:cs typeface="+mn-cs"/>
                        </a:rPr>
                        <m:t>=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B862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charset="-122"/>
                          <a:cs typeface="+mn-cs"/>
                        </a:rPr>
                        <m:t>𝑎</m:t>
                      </m:r>
                      <m:d>
                        <m:dPr>
                          <m:ctrlP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B862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B862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charset="-122"/>
                              <a:cs typeface="+mn-cs"/>
                            </a:rPr>
                            <m:t>𝑥</m:t>
                          </m:r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B862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charset="-122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B862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charset="-122"/>
                        <a:cs typeface="+mn-cs"/>
                      </a:rPr>
                      <m:t>𝑎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的首项系数，则称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中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分裂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更进一步地，若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中分裂且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，则称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的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分裂域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</a:t>
                </a:r>
                <a:endPara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3354765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（</a:t>
                </a:r>
                <a:r>
                  <a:rPr lang="zh-CN" altLang="en-US" sz="3200" b="1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分裂域的存在＆唯一性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）令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为一个域，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中任一非常数的多项式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则</a:t>
                </a:r>
                <a:endParaRPr lang="en-US" altLang="zh-CN" sz="3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1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）存在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的一个包含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的分裂域；</a:t>
                </a:r>
                <a:endParaRPr lang="en-US" altLang="zh-CN" sz="3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（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2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的任意两个包含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的分裂域都是同构的，并且这个同构映射保持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中元素不动，而把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的根映射到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的根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3354765"/>
              </a:xfrm>
              <a:prstGeom prst="rect">
                <a:avLst/>
              </a:prstGeom>
              <a:blipFill rotWithShape="1">
                <a:blip r:embed="rId6"/>
                <a:stretch>
                  <a:fillRect l="-3" t="-8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有限域的性质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4810" y="148701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引理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059631" y="1487013"/>
                <a:ext cx="8964540" cy="111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假设有限域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中包含一个大小为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𝑞</m:t>
                    </m:r>
                  </m:oMath>
                </a14:m>
                <a:r>
                  <a:rPr lang="en-US" altLang="zh-CN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 </a:t>
                </a:r>
                <a:r>
                  <a:rPr lang="zh-CN" altLang="en-US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的子域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𝐾</m:t>
                    </m:r>
                  </m:oMath>
                </a14:m>
                <a:r>
                  <a:rPr lang="en-US" altLang="zh-CN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 </a:t>
                </a:r>
                <a:r>
                  <a:rPr lang="zh-CN" altLang="en-US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我们有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b="0" i="0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altLang="zh-CN" sz="320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1" y="1487013"/>
                <a:ext cx="8964540" cy="1119409"/>
              </a:xfrm>
              <a:prstGeom prst="rect">
                <a:avLst/>
              </a:prstGeom>
              <a:blipFill rotWithShape="1">
                <a:blip r:embed="rId2"/>
                <a:stretch>
                  <a:fillRect l="-4" t="-43" r="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150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给定有限域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并假设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char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𝑝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则有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</m:d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:</m:t>
                        </m:r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𝔽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150443"/>
              </a:xfrm>
              <a:prstGeom prst="rect">
                <a:avLst/>
              </a:prstGeom>
              <a:blipFill rotWithShape="1">
                <a:blip r:embed="rId6"/>
                <a:stretch>
                  <a:fillRect l="-3" t="-23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</a:t>
            </a:r>
            <a:r>
              <a:rPr lang="zh-CN" altLang="en-US" sz="3200" b="1">
                <a:solidFill>
                  <a:srgbClr val="C00000"/>
                </a:solidFill>
              </a:rPr>
              <a:t>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427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为大小为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20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的有限域</a:t>
                </a:r>
                <a:r>
                  <a:rPr lang="en-US" altLang="zh-CN" sz="320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那么</a:t>
                </a:r>
                <a:endParaRPr lang="en-US" altLang="zh-CN" sz="320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𝔽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856429" y="691143"/>
                <a:ext cx="9268767" cy="1427186"/>
              </a:xfrm>
              <a:prstGeom prst="rect">
                <a:avLst/>
              </a:prstGeom>
              <a:blipFill rotWithShape="1">
                <a:blip r:embed="rId8"/>
                <a:stretch>
                  <a:fillRect l="-3" t="-18" r="7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81609" y="315895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</a:t>
            </a:r>
            <a:r>
              <a:rPr lang="zh-CN" altLang="en-US" sz="3200" b="1">
                <a:solidFill>
                  <a:srgbClr val="C00000"/>
                </a:solidFill>
              </a:rPr>
              <a:t>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56429" y="3158950"/>
                <a:ext cx="9268767" cy="3161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为大小为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的有限域，且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的子域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则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中多项式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中有如下分解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856429" y="3158950"/>
                <a:ext cx="9268767" cy="3161443"/>
              </a:xfrm>
              <a:prstGeom prst="rect">
                <a:avLst/>
              </a:prstGeom>
              <a:blipFill rotWithShape="1">
                <a:blip r:embed="rId10"/>
                <a:stretch>
                  <a:fillRect l="-3" t="-15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0,1</m:t>
                        </m:r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3" t="-45" r="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2100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（</a:t>
                </a:r>
                <a:r>
                  <a:rPr lang="zh-CN" altLang="en-US" sz="3200" b="1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有限域的存在＆唯一性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）对于任一素数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𝑝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和正整数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，存在一个大小为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的有限域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并且任一大小为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的有限域都和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上的分裂域同构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2100062"/>
              </a:xfrm>
              <a:prstGeom prst="rect">
                <a:avLst/>
              </a:prstGeom>
              <a:blipFill rotWithShape="1">
                <a:blip r:embed="rId6"/>
                <a:stretch>
                  <a:fillRect l="-3" t="-13" r="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168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（</a:t>
                </a:r>
                <a:r>
                  <a:rPr lang="zh-CN" altLang="en-US" sz="3200" b="1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子域判别法则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）令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为大小为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𝑞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的有限域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的任一子域的大小为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，其中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d>
                      <m:dPr>
                        <m:begChr m:val="|"/>
                        <m:endChr m:val="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反之，若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d>
                      <m:dPr>
                        <m:begChr m:val="|"/>
                        <m:endChr m:val="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</m:d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则存在唯一的 大小为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的子域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268767" cy="1683538"/>
              </a:xfrm>
              <a:prstGeom prst="rect">
                <a:avLst/>
              </a:prstGeom>
              <a:blipFill rotWithShape="1">
                <a:blip r:embed="rId6"/>
                <a:stretch>
                  <a:fillRect l="-3" t="-16" r="-96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sub>
                    </m:sSub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的子域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endParaRPr lang="zh-CN" altLang="en-US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3" t="-45" r="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66274" y="1191274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941094" y="1191274"/>
                <a:ext cx="9268767" cy="1153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对于每一个有限域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，其</a:t>
                </a:r>
                <a:r>
                  <a:rPr lang="zh-CN" altLang="en-US" sz="3200" dirty="0"/>
                  <a:t>非零元素构成的乘法群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是循环群</a:t>
                </a:r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941094" y="1191274"/>
                <a:ext cx="9268767" cy="1153136"/>
              </a:xfrm>
              <a:prstGeom prst="rect">
                <a:avLst/>
              </a:prstGeom>
              <a:blipFill rotWithShape="1">
                <a:blip r:embed="rId8"/>
                <a:stretch>
                  <a:fillRect l="-6" t="-1" r="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66274" y="3183037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41094" y="3183037"/>
                <a:ext cx="9825288" cy="622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/>
                  <a:t>我们称循环群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Sup>
                      <m:sSub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  <m:sup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的生成元为域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</a:t>
                </a:r>
                <a:r>
                  <a:rPr lang="zh-CN" altLang="en-US" sz="3200" b="1" dirty="0"/>
                  <a:t>本原元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.</a:t>
                </a:r>
                <a:endPara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094" y="3183037"/>
                <a:ext cx="9825288" cy="622735"/>
              </a:xfrm>
              <a:prstGeom prst="rect">
                <a:avLst/>
              </a:prstGeom>
              <a:blipFill rotWithShape="1">
                <a:blip r:embed="rId9"/>
                <a:stretch>
                  <a:fillRect l="-5" t="-67" r="5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66274" y="517601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941094" y="5176010"/>
                <a:ext cx="9268767" cy="622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包含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</a:rPr>
                  <a:t> </a:t>
                </a:r>
                <a:r>
                  <a:rPr lang="zh-CN" altLang="en-US" sz="3200" dirty="0"/>
                  <a:t>个本原元</a:t>
                </a:r>
                <a:r>
                  <a:rPr lang="en-US" altLang="zh-CN" sz="3200" dirty="0"/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941094" y="5176010"/>
                <a:ext cx="9268767" cy="622735"/>
              </a:xfrm>
              <a:prstGeom prst="rect">
                <a:avLst/>
              </a:prstGeom>
              <a:blipFill rotWithShape="1">
                <a:blip r:embed="rId11"/>
                <a:stretch>
                  <a:fillRect l="-6" t="-20" r="2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3.4 </a:t>
            </a:r>
            <a:r>
              <a:rPr lang="zh-CN" altLang="en-US" sz="36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本原元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54037" y="746491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928857" y="746491"/>
                <a:ext cx="9268767" cy="168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为</a:t>
                </a:r>
                <a:r>
                  <a:rPr lang="zh-CN" altLang="en-US" sz="3200" dirty="0"/>
                  <a:t>一个有限域，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sz="3200" dirty="0"/>
                  <a:t> 为其有限扩域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的一个单代数扩张，且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的每一个本原元都可以作为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的定义元</a:t>
                </a:r>
                <a:r>
                  <a:rPr lang="en-US" altLang="zh-CN" sz="3200" dirty="0"/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928857" y="746491"/>
                <a:ext cx="9268767" cy="1683538"/>
              </a:xfrm>
              <a:prstGeom prst="rect">
                <a:avLst/>
              </a:prstGeom>
              <a:blipFill rotWithShape="1">
                <a:blip r:embed="rId8"/>
                <a:stretch>
                  <a:fillRect l="-4" t="-2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54037" y="342900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928857" y="3429000"/>
                <a:ext cx="9268767" cy="1115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对于每个有限域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和每个正整数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</m:t>
                    </m:r>
                  </m:oMath>
                </a14:m>
                <a:r>
                  <a:rPr lang="zh-CN" altLang="en-US" sz="3200" dirty="0"/>
                  <a:t> 中存在一个次数为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 的不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可约多项式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928857" y="3429000"/>
                <a:ext cx="9268767" cy="1115177"/>
              </a:xfrm>
              <a:prstGeom prst="rect">
                <a:avLst/>
              </a:prstGeom>
              <a:blipFill rotWithShape="1">
                <a:blip r:embed="rId10"/>
                <a:stretch>
                  <a:fillRect l="-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66274" y="1069609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引理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941094" y="1069609"/>
                <a:ext cx="9553962" cy="168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上的一个不可约多项式，且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的某个扩域中的一个根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那么对于多项式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ℎ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，我们有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ℎ</m:t>
                    </m:r>
                    <m:d>
                      <m:dPr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成立当且仅当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ℎ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941094" y="1069609"/>
                <a:ext cx="9553962" cy="1683538"/>
              </a:xfrm>
              <a:prstGeom prst="rect">
                <a:avLst/>
              </a:prstGeom>
              <a:blipFill rotWithShape="1">
                <a:blip r:embed="rId8"/>
                <a:stretch>
                  <a:fillRect l="-6" t="-16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66274" y="3807466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</a:t>
            </a:r>
            <a:r>
              <a:rPr lang="zh-CN" altLang="en-US" sz="3200" b="1">
                <a:solidFill>
                  <a:srgbClr val="C00000"/>
                </a:solidFill>
              </a:rPr>
              <a:t>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941094" y="3807466"/>
                <a:ext cx="9268767" cy="1160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上次数为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的不可约多项式，那么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)|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p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zh-CN" altLang="en-US" sz="3200" dirty="0"/>
                  <a:t> 当且仅当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941094" y="3807466"/>
                <a:ext cx="9268767" cy="1160511"/>
              </a:xfrm>
              <a:prstGeom prst="rect">
                <a:avLst/>
              </a:prstGeom>
              <a:blipFill rotWithShape="1">
                <a:blip r:embed="rId10"/>
                <a:stretch>
                  <a:fillRect l="-6" t="-1" r="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不可约多项式的根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268767" cy="2556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zh-CN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是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中</a:t>
                </a:r>
                <a:r>
                  <a:rPr lang="zh-CN" altLang="en-US" sz="3200" dirty="0"/>
                  <a:t>次数为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的不可约多项式，那么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中有一个根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并且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</m:oMath>
                </a14:m>
                <a:r>
                  <a:rPr lang="zh-CN" altLang="en-US" sz="3200" dirty="0"/>
                  <a:t> 的所有根都是单根，且由以下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/>
                  <a:t> 个不同的元素给出：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⋯,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856429" y="691143"/>
                <a:ext cx="9268767" cy="2556277"/>
              </a:xfrm>
              <a:prstGeom prst="rect">
                <a:avLst/>
              </a:prstGeom>
              <a:blipFill rotWithShape="1">
                <a:blip r:embed="rId8"/>
                <a:stretch>
                  <a:fillRect l="-3" t="-10" r="7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81609" y="3610581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56429" y="3610581"/>
                <a:ext cx="9268767" cy="1160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是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[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]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中</a:t>
                </a:r>
                <a:r>
                  <a:rPr lang="zh-CN" altLang="en-US" sz="3200" dirty="0"/>
                  <a:t>次数为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的不可约多项式，则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𝑓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在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上的分裂域为</a:t>
                </a:r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856429" y="3610581"/>
                <a:ext cx="9268767" cy="1160511"/>
              </a:xfrm>
              <a:prstGeom prst="rect">
                <a:avLst/>
              </a:prstGeom>
              <a:blipFill>
                <a:blip r:embed="rId9"/>
                <a:stretch>
                  <a:fillRect l="-1711" t="-6283" b="-13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4036" y="3429000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28856" y="3429000"/>
                <a:ext cx="9825288" cy="2020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&gt;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 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对于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</m:oMath>
                </a14:m>
                <a:r>
                  <a:rPr lang="zh-CN" altLang="en-US" sz="3200" noProof="0" dirty="0"/>
                  <a:t>我们称元素</a:t>
                </a:r>
                <a:endParaRPr lang="en-US" altLang="zh-CN" sz="3200" noProof="0" dirty="0"/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⋯,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zh-CN" altLang="en-US" sz="3200" dirty="0"/>
                  <a:t>为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zh-CN" altLang="en-US" sz="3200" dirty="0"/>
                  <a:t> 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0" lang="en-US" altLang="zh-CN" sz="32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Cambria Math" panose="02040503050406030204" pitchFamily="18" charset="0"/>
                  </a:rPr>
                  <a:t> </a:t>
                </a:r>
                <a:r>
                  <a:rPr kumimoji="0" lang="zh-CN" altLang="en-US" sz="3200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的</a:t>
                </a:r>
                <a:r>
                  <a:rPr kumimoji="0" lang="zh-CN" altLang="en-US" sz="32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共轭元</a:t>
                </a:r>
                <a:r>
                  <a:rPr kumimoji="0" lang="en-US" altLang="zh-CN" sz="32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856" y="3429000"/>
                <a:ext cx="9825288" cy="2020040"/>
              </a:xfrm>
              <a:prstGeom prst="rect">
                <a:avLst/>
              </a:prstGeom>
              <a:blipFill rotWithShape="1">
                <a:blip r:embed="rId5"/>
                <a:stretch>
                  <a:fillRect l="-4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854037" y="658406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928856" y="658406"/>
                <a:ext cx="9268767" cy="1115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中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r>
                  <a:rPr lang="zh-CN" altLang="en-US" sz="3200" dirty="0"/>
                  <a:t>任何两个次数相同的不可约多项式的分裂域都是同构的</a:t>
                </a:r>
                <a:r>
                  <a:rPr lang="en-US" altLang="zh-CN" sz="3200" dirty="0"/>
                  <a:t>.</a:t>
                </a:r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928856" y="658406"/>
                <a:ext cx="9268767" cy="1115177"/>
              </a:xfrm>
              <a:prstGeom prst="rect">
                <a:avLst/>
              </a:prstGeom>
              <a:blipFill rotWithShape="1">
                <a:blip r:embed="rId7"/>
                <a:stretch>
                  <a:fillRect l="-4" t="-49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</a:rPr>
              <a:t>推论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3561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/>
                  <a:t>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latin typeface="Cambria Math" panose="02040503050406030204" pitchFamily="18" charset="0"/>
                      </a:rPr>
                      <m:t>的共轭</m:t>
                    </m:r>
                  </m:oMath>
                </a14:m>
                <a:r>
                  <a:rPr lang="zh-CN" altLang="en-US" sz="3200" dirty="0"/>
                  <a:t>元都是不同的，当且仅当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上的最小多项式的次数为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.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否则，</a:t>
                </a:r>
                <a:r>
                  <a:rPr lang="zh-CN" altLang="en-US" sz="3200" dirty="0"/>
                  <a:t>该最小多项式的次数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/>
                  <a:t> 的一个真因子，并且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共轭元为</a:t>
                </a:r>
                <a:endParaRPr lang="en-US" altLang="zh-CN" sz="3200" dirty="0"/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⋯,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𝑑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</m:oMath>
                  </m:oMathPara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等线" panose="02010600030101010101" charset="-122"/>
                  <a:cs typeface="Cambria Math" panose="02040503050406030204" pitchFamily="18" charset="0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其中每个共轭元重复出现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Cambria Math" panose="02040503050406030204" pitchFamily="18" charset="0"/>
                      </a:rPr>
                      <m:t>/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 次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3561103"/>
              </a:xfrm>
              <a:prstGeom prst="rect">
                <a:avLst/>
              </a:prstGeom>
              <a:blipFill rotWithShape="1">
                <a:blip r:embed="rId5"/>
                <a:stretch>
                  <a:fillRect l="-3" t="-7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37229" y="456368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712049" y="4563689"/>
                <a:ext cx="9268767" cy="114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元素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sSubSup>
                      <m:sSub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 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的共轭元在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Sup>
                      <m:sSub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3200" dirty="0"/>
                  <a:t> 中具有相同的阶</a:t>
                </a:r>
                <a:r>
                  <a:rPr lang="en-US" altLang="zh-CN" sz="3200" dirty="0"/>
                  <a:t>.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712049" y="4563689"/>
                <a:ext cx="9268767" cy="1146404"/>
              </a:xfrm>
              <a:prstGeom prst="rect">
                <a:avLst/>
              </a:prstGeom>
              <a:blipFill rotWithShape="1">
                <a:blip r:embed="rId7"/>
                <a:stretch>
                  <a:fillRect l="-1" t="-51" r="4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6274" y="113476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41094" y="1134763"/>
                <a:ext cx="9825288" cy="3300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 如果映射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→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  <a:sym typeface="Symbol" panose="05050102010706020507" pitchFamily="18" charset="2"/>
                  </a:rPr>
                  <a:t>满足以下条件：</a:t>
                </a:r>
                <a:endParaRPr lang="en-US" altLang="zh-CN" sz="3200" dirty="0">
                  <a:latin typeface="+mn-ea"/>
                  <a:sym typeface="Symbol" panose="05050102010706020507" pitchFamily="18" charset="2"/>
                </a:endParaRP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eqArr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#</m:t>
                          </m:r>
                        </m:e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+</m:t>
                              </m:r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&amp;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</m:e>
                          </m:d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  ∀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𝛽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𝑚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,#</m:t>
                          </m:r>
                        </m:e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𝛼𝛽</m:t>
                              </m:r>
                            </m:e>
                          </m:d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</m:e>
                          </m:d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 ∀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𝛽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𝑚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,#</m:t>
                          </m:r>
                        </m:e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&amp;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  ∀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</m:e>
                      </m:eqArr>
                    </m:oMath>
                  </m:oMathPara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𝜎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自同构</a:t>
                </a:r>
                <a:r>
                  <a:rPr lang="en-US" altLang="zh-CN" sz="3200" b="1" dirty="0"/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094" y="1134763"/>
                <a:ext cx="9825288" cy="3300391"/>
              </a:xfrm>
              <a:prstGeom prst="rect">
                <a:avLst/>
              </a:prstGeom>
              <a:blipFill rotWithShape="1">
                <a:blip r:embed="rId3"/>
                <a:stretch>
                  <a:fillRect l="-5" t="-1" r="5" b="-3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迹和范数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66595" y="7673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985795" y="674715"/>
                <a:ext cx="9424596" cy="2553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对于</a:t>
                </a:r>
                <a14:m>
                  <m:oMath xmlns:m="http://schemas.openxmlformats.org/officeDocument/2006/math">
                    <m:r>
                      <a:rPr lang="zh-CN" altLang="en-US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−1, 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我们定义映射</a:t>
                </a:r>
                <a:endParaRPr lang="en-US" altLang="zh-CN" sz="3200" dirty="0"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,∀ 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sSub>
                        <m:sSubPr>
                          <m:ctrlP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</m:sup>
                          </m:sSup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那么域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上所有不同的自同构正好是映射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⋯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𝜎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985795" y="674715"/>
                <a:ext cx="9424596" cy="2553007"/>
              </a:xfrm>
              <a:prstGeom prst="rect">
                <a:avLst/>
              </a:prstGeom>
              <a:blipFill rotWithShape="1">
                <a:blip r:embed="rId6"/>
                <a:stretch>
                  <a:fillRect l="-2" t="-14" r="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825288" cy="31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给定域</a:t>
                </a:r>
                <a14:m>
                  <m:oMath xmlns:m="http://schemas.openxmlformats.org/officeDocument/2006/math">
                    <m:r>
                      <a:rPr lang="zh-CN" altLang="en-US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 元素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zh-CN" altLang="en-US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迹</a:t>
                </a:r>
                <a:r>
                  <a:rPr lang="zh-CN" altLang="en-US" sz="3200" dirty="0"/>
                  <a:t>定义为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Tr</m:t>
                          </m:r>
                        </m:e>
                        <m:sub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𝐾</m:t>
                          </m:r>
                        </m:sub>
                      </m:sSub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sup>
                      </m:sSup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如果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是</a:t>
                </a:r>
                <a14:m>
                  <m:oMath xmlns:m="http://schemas.openxmlformats.org/officeDocument/2006/math">
                    <m:r>
                      <a:rPr lang="zh-CN" altLang="en-US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zh-CN" altLang="en-US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的素子域，则称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zh-CN" altLang="en-US" sz="32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绝对迹</a:t>
                </a:r>
                <a:r>
                  <a:rPr lang="zh-CN" altLang="en-US" sz="3200" dirty="0"/>
                  <a:t>，并简写为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3104504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25151" y="46663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99971" y="466635"/>
                <a:ext cx="9424596" cy="696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给定域</a:t>
                </a:r>
                <a14:m>
                  <m:oMath xmlns:m="http://schemas.openxmlformats.org/officeDocument/2006/math">
                    <m:r>
                      <a:rPr lang="zh-CN" altLang="en-US" sz="320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>
                    <a:sym typeface="Symbol" panose="05050102010706020507" pitchFamily="18" charset="2"/>
                  </a:rPr>
                  <a:t>和元素</a:t>
                </a:r>
                <a14:m>
                  <m:oMath xmlns:m="http://schemas.openxmlformats.org/officeDocument/2006/math"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令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是元素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上的极小多项式，可知其次数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zh-CN" altLang="en-US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上的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特征多项式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可以验证：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eqArr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𝑓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&amp;=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zh-CN" altLang="en-US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70AD47">
                                          <a:lumMod val="7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3200" b="0" i="1" smtClean="0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d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𝑔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&amp;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70AD47">
                                          <a:lumMod val="7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  <m:e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3200" i="1">
                                      <a:solidFill>
                                        <a:srgbClr val="70AD47">
                                          <a:lumMod val="7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i="1">
                                      <a:solidFill>
                                        <a:srgbClr val="70AD47">
                                          <a:lumMod val="7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altLang="zh-CN" sz="3200" i="1">
                                      <a:solidFill>
                                        <a:srgbClr val="70AD47">
                                          <a:lumMod val="7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3200" i="1" dirty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0" i="1" dirty="0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  <m:e>
                          <m:r>
                            <a:rPr lang="en-US" altLang="zh-CN" sz="3200" b="0" i="1" dirty="0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US" altLang="zh-CN" sz="3200" b="0" i="1" dirty="0">
                  <a:solidFill>
                    <a:srgbClr val="70AD47">
                      <a:lumMod val="75000"/>
                    </a:srgb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kumimoji="0" lang="zh-CN" altLang="en-US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=−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99971" y="466635"/>
                <a:ext cx="9424596" cy="6964535"/>
              </a:xfrm>
              <a:prstGeom prst="rect">
                <a:avLst/>
              </a:prstGeom>
              <a:blipFill rotWithShape="1">
                <a:blip r:embed="rId6"/>
                <a:stretch>
                  <a:fillRect l="-1" t="-8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40512" y="12606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5"/>
                </a:solidFill>
              </a:rPr>
              <a:t>注释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25606" y="126064"/>
                <a:ext cx="9424596" cy="7373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令</a:t>
                </a:r>
                <a14:m>
                  <m:oMath xmlns:m="http://schemas.openxmlformats.org/officeDocument/2006/math"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是元素</a:t>
                </a:r>
                <a14:m>
                  <m:oMath xmlns:m="http://schemas.openxmlformats.org/officeDocument/2006/math"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上的极小多项式，可知其次数为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令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rgbClr val="70AD47">
                              <a:lumMod val="75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p>
                      <m:sSup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/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的一组基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，且</a:t>
                </a: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eqArr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sz="320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1</m:t>
                              </m:r>
                              <m:r>
                                <a:rPr lang="en-US" altLang="zh-CN" sz="3200" b="0" i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, </m:t>
                              </m:r>
                              <m:r>
                                <a:rPr lang="zh-CN" altLang="en-US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,</m:t>
                              </m:r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⋯,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𝑚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,</m:t>
                              </m:r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⋯,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𝑚</m:t>
                                  </m:r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rgbClr val="3B862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20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1, </m:t>
                          </m:r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p>
                            <m:sSup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sz="320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320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320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zh-CN" altLang="en-US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altLang="zh-CN" sz="320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320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zh-CN" altLang="en-US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US" altLang="zh-CN" sz="3200" b="0" i="1" smtClean="0">
                                          <a:solidFill>
                                            <a:srgbClr val="3B862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kumimoji="0" lang="zh-CN" altLang="en-US" sz="32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cs typeface="+mn-cs"/>
                  </a:rPr>
                  <a:t>从而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可知</m:t>
                    </m:r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trace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25606" y="126064"/>
                <a:ext cx="9424596" cy="7373172"/>
              </a:xfrm>
              <a:prstGeom prst="rect">
                <a:avLst/>
              </a:prstGeom>
              <a:blipFill rotWithShape="1">
                <a:blip r:embed="rId6"/>
                <a:stretch>
                  <a:fillRect l="-7" t="-5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4567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给定域</a:t>
                </a:r>
                <a14:m>
                  <m:oMath xmlns:m="http://schemas.openxmlformats.org/officeDocument/2006/math">
                    <m:r>
                      <a:rPr lang="zh-CN" altLang="en-US" sz="320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 </m:t>
                    </m:r>
                  </m:oMath>
                </a14:m>
                <a:r>
                  <a:rPr lang="zh-CN" altLang="en-US" sz="3200" dirty="0"/>
                  <a:t>我们有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noProof="0" dirty="0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kumimoji="0" lang="en-US" altLang="zh-CN" sz="3200" b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cs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kumimoji="0" lang="en-US" altLang="zh-CN" sz="3200" b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cs"/>
                  </a:rPr>
                  <a:t>3.</a:t>
                </a:r>
                <a:r>
                  <a:rPr lang="en-US" altLang="zh-CN" sz="3200" dirty="0">
                    <a:solidFill>
                      <a:srgbClr val="70AD47">
                        <a:lumMod val="75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3200" dirty="0"/>
                  <a:t> 是从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/>
                  <a:t> 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/>
                  <a:t> 的线性变换且是满射，其中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 和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被看作是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/>
                  <a:t> 上的向量空间</a:t>
                </a:r>
                <a:r>
                  <a:rPr lang="en-US" altLang="zh-CN" sz="32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noProof="0" dirty="0"/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𝑚𝑎</m:t>
                    </m:r>
                  </m:oMath>
                </a14:m>
                <a:r>
                  <a:rPr lang="en-US" altLang="zh-CN" sz="32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endParaRPr lang="en-US" altLang="zh-CN" sz="3200" i="1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chemeClr val="tx1"/>
                    </a:solidFill>
                    <a:cs typeface="Cambria Math" panose="02040503050406030204" pitchFamily="18" charset="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Tr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kumimoji="0" lang="en-US" altLang="zh-C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𝑞</m:t>
                            </m:r>
                          </m:sup>
                        </m:sSup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altLang="zh-CN" sz="3200" dirty="0">
                    <a:solidFill>
                      <a:srgbClr val="70AD47">
                        <a:lumMod val="75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</m:oMath>
                </a14:m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4567532"/>
              </a:xfrm>
              <a:prstGeom prst="rect">
                <a:avLst/>
              </a:prstGeom>
              <a:blipFill rotWithShape="1">
                <a:blip r:embed="rId6"/>
                <a:stretch>
                  <a:fillRect l="-3" t="-6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2994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是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有限域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的一个有限扩张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我们定义映射</a:t>
                </a:r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𝛽𝛼</m:t>
                          </m:r>
                        </m:e>
                      </m:d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,∀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3200" i="1">
                          <a:solidFill>
                            <a:srgbClr val="70AD47">
                              <a:lumMod val="75000"/>
                            </a:srgb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3200" i="1">
                          <a:solidFill>
                            <a:srgbClr val="70AD47">
                              <a:lumMod val="75000"/>
                            </a:srgb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rgbClr val="70AD47">
                      <a:lumMod val="75000"/>
                    </a:srgbClr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那么当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𝛾</m:t>
                    </m:r>
                  </m:oMath>
                </a14:m>
                <a:r>
                  <a:rPr lang="zh-CN" altLang="en-US" sz="3200" dirty="0"/>
                  <a:t> 时我们有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sub>
                    </m:sSub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𝛾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zh-CN" altLang="en-US" sz="3200" dirty="0"/>
                  <a:t> 并且从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3200" dirty="0"/>
                  <a:t> 到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lang="zh-CN" altLang="en-US" sz="3200" dirty="0"/>
                  <a:t> 的所有线性变换就是映射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sub>
                    </m:sSub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2994153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664926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1651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是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的一个有限扩张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对于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，我们有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</m:t>
                    </m:r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当且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</a:rPr>
                  <a:t>仅当存在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1651734"/>
              </a:xfrm>
              <a:prstGeom prst="rect">
                <a:avLst/>
              </a:prstGeom>
              <a:blipFill rotWithShape="1">
                <a:blip r:embed="rId6"/>
                <a:stretch>
                  <a:fillRect l="-3" t="-16" r="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225143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2121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zh-CN" altLang="en-US" sz="3200" b="1" dirty="0"/>
                  <a:t>迹的传递性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）设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的一个有限扩张，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3200" dirty="0"/>
                  <a:t> 的一个有限扩张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i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i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i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CN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2121991"/>
              </a:xfrm>
              <a:prstGeom prst="rect">
                <a:avLst/>
              </a:prstGeom>
              <a:blipFill rotWithShape="1">
                <a:blip r:embed="rId6"/>
                <a:stretch>
                  <a:fillRect l="-3" t="-12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825288" cy="2081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 给定域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，我们定义元素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范数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zh-CN" altLang="en-US" sz="3200" dirty="0"/>
                  <a:t> 为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∙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sup>
                      </m:sSup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∙⋯∙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−1)/(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𝑞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2081660"/>
              </a:xfrm>
              <a:prstGeom prst="rect">
                <a:avLst/>
              </a:prstGeom>
              <a:blipFill rotWithShape="1">
                <a:blip r:embed="rId3"/>
                <a:stretch>
                  <a:fillRect l="-3" t="-13" r="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3384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给定</a:t>
                </a:r>
                <a14:m>
                  <m:oMath xmlns:m="http://schemas.openxmlformats.org/officeDocument/2006/math">
                    <m:r>
                      <a:rPr kumimoji="0" lang="en-US" altLang="zh-CN" sz="3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kumimoji="0" lang="en-US" altLang="zh-CN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 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𝐹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B862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B862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B862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我们有</a:t>
                </a:r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defRPr/>
                </a:pPr>
                <a:r>
                  <a:rPr lang="en-US" altLang="zh-CN" sz="3200" dirty="0">
                    <a:solidFill>
                      <a:prstClr val="black"/>
                    </a:solidFill>
                    <a:latin typeface="等线" panose="02010600030101010101" charset="-122"/>
                    <a:ea typeface="等线" panose="02010600030101010101" charset="-122"/>
                  </a:rPr>
                  <a:t>1.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kumimoji="0" lang="zh-CN" alt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𝛽</m:t>
                        </m:r>
                      </m:e>
                    </m:d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𝛽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,   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∀</m:t>
                    </m:r>
                    <m:r>
                      <a:rPr kumimoji="0" lang="zh-CN" alt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𝛼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,</m:t>
                    </m:r>
                    <m:r>
                      <a:rPr kumimoji="0" lang="zh-CN" alt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𝛽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∈</m:t>
                    </m:r>
                    <m:r>
                      <a:rPr kumimoji="0" lang="en-US" altLang="zh-CN" sz="3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 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prstClr val="black"/>
                    </a:solidFill>
                  </a:rPr>
                  <a:t>2.</a:t>
                </a:r>
                <a:r>
                  <a:rPr kumimoji="0" lang="en-US" altLang="zh-CN" sz="3200" b="0" u="none" strike="noStrike" kern="1200" cap="none" spc="0" normalizeH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是从</a:t>
                </a:r>
                <a14:m>
                  <m:oMath xmlns:m="http://schemas.openxmlformats.org/officeDocument/2006/math">
                    <m:r>
                      <a:rPr kumimoji="0" lang="en-US" altLang="zh-CN" sz="3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到</a:t>
                </a:r>
                <a14:m>
                  <m:oMath xmlns:m="http://schemas.openxmlformats.org/officeDocument/2006/math"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 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</a:rPr>
                  <a:t>的满射，也是从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</a:rPr>
                  <a:t> 到</a:t>
                </a:r>
                <a14:m>
                  <m:oMath xmlns:m="http://schemas.openxmlformats.org/officeDocument/2006/math">
                    <m:r>
                      <a:rPr lang="en-US" altLang="zh-CN" sz="320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</a:rPr>
                  <a:t>的满射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.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prstClr val="black"/>
                    </a:solidFill>
                  </a:rPr>
                  <a:t>3.</a:t>
                </a:r>
                <a:r>
                  <a:rPr lang="zh-CN" altLang="en-US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</m:d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p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𝑚</m:t>
                        </m:r>
                      </m:sup>
                    </m:sSup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  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∀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𝑎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∈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𝐾</m:t>
                    </m:r>
                  </m:oMath>
                </a14:m>
                <a:endParaRPr kumimoji="0" lang="en-US" altLang="zh-CN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等线" panose="02010600030101010101" charset="-122"/>
                  <a:cs typeface="Cambria Math" panose="02040503050406030204" pitchFamily="18" charset="0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prstClr val="black"/>
                    </a:solidFill>
                  </a:rPr>
                  <a:t>4.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等线" panose="02010600030101010101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zh-CN" altLang="en-US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𝛼</m:t>
                            </m:r>
                          </m:e>
                          <m:sup>
                            <m:r>
                              <a:rPr kumimoji="0" lang="en-US" altLang="zh-C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𝑞</m:t>
                            </m:r>
                          </m:sup>
                        </m:sSup>
                      </m:e>
                    </m:d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kumimoji="0" lang="zh-CN" alt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B86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kumimoji="0" lang="en-US" altLang="zh-CN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,   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∀</m:t>
                    </m:r>
                    <m:r>
                      <a:rPr kumimoji="0" lang="zh-CN" alt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𝛼</m:t>
                    </m:r>
                    <m:r>
                      <a:rPr kumimoji="0" lang="en-US" altLang="zh-CN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Symbol" panose="05050102010706020507" pitchFamily="18" charset="2"/>
                      </a:rPr>
                      <m:t>∈</m:t>
                    </m:r>
                    <m:r>
                      <a:rPr kumimoji="0" lang="en-US" altLang="zh-CN" sz="3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86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等线" panose="02010600030101010101" charset="-122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3384645"/>
              </a:xfrm>
              <a:prstGeom prst="rect">
                <a:avLst/>
              </a:prstGeom>
              <a:blipFill rotWithShape="1">
                <a:blip r:embed="rId6"/>
                <a:stretch>
                  <a:fillRect l="-3" t="-8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477491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2121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zh-CN" altLang="en-US" sz="3200" b="1" dirty="0"/>
                  <a:t>范数的传递性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）设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的一个有限扩张，</a:t>
                </a:r>
                <a:r>
                  <a:rPr lang="en-US" altLang="zh-CN" sz="3200" dirty="0">
                    <a:solidFill>
                      <a:srgbClr val="70AD47">
                        <a:lumMod val="75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3200" dirty="0"/>
                  <a:t> 的一个有限扩张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CN" sz="3200" b="0" i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2121991"/>
              </a:xfrm>
              <a:prstGeom prst="rect">
                <a:avLst/>
              </a:prstGeom>
              <a:blipFill rotWithShape="1">
                <a:blip r:embed="rId6"/>
                <a:stretch>
                  <a:fillRect l="-3" t="-12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01803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968254" y="1225645"/>
                <a:ext cx="9424596" cy="499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的一组基，那么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𝐹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𝛼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altLang="zh-CN" sz="3200" b="0" dirty="0">
                  <a:solidFill>
                    <a:srgbClr val="3B862E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sym typeface="Symbol" panose="05050102010706020507" pitchFamily="18" charset="2"/>
                  </a:rPr>
                  <a:t>容易验证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  <m:sSub>
                      <m:sSubPr>
                        <m:ctrlP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→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</a:rPr>
                  <a:t> 是从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</a:rPr>
                  <a:t> 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</a:rPr>
                  <a:t>的一个线性变换</a:t>
                </a:r>
                <a:r>
                  <a:rPr lang="en-US" altLang="zh-CN" sz="3200" dirty="0">
                    <a:solidFill>
                      <a:schemeClr val="tx1"/>
                    </a:solidFill>
                  </a:rPr>
                  <a:t>. </a:t>
                </a:r>
                <a:r>
                  <a:rPr lang="zh-CN" altLang="en-US" sz="3200" dirty="0">
                    <a:solidFill>
                      <a:schemeClr val="tx1"/>
                    </a:solidFill>
                  </a:rPr>
                  <a:t>因此，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b="0" i="1" smtClean="0">
                            <a:solidFill>
                              <a:srgbClr val="70AD47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</m:oMath>
                </a14:m>
                <a:r>
                  <a:rPr lang="en-US" altLang="zh-CN" sz="32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特别地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i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0    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   (∗)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可以验证</a:t>
                </a:r>
                <a:r>
                  <a:rPr lang="en-US" altLang="zh-CN" sz="3200" b="0" dirty="0">
                    <a:solidFill>
                      <a:srgbClr val="3B862E"/>
                    </a:solidFill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的另一组基</a:t>
                </a:r>
                <a:r>
                  <a:rPr lang="en-US" altLang="zh-CN" sz="3200" dirty="0"/>
                  <a:t>.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968254" y="1225645"/>
                <a:ext cx="9424596" cy="4998612"/>
              </a:xfrm>
              <a:prstGeom prst="rect">
                <a:avLst/>
              </a:prstGeom>
              <a:blipFill rotWithShape="1">
                <a:blip r:embed="rId5"/>
                <a:stretch>
                  <a:fillRect l="-4" t="-2" r="3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866274" y="122564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</a:rPr>
              <a:t>例子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3.6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有限域的</a:t>
            </a:r>
            <a:r>
              <a:rPr lang="zh-CN" altLang="en-US" sz="36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44572" y="657067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019392" y="657067"/>
                <a:ext cx="9825288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我们称满足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式的两组基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/>
                  <a:t> 和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互为</a:t>
                </a:r>
                <a:r>
                  <a:rPr lang="zh-CN" altLang="en-US" sz="3200" b="1" dirty="0"/>
                  <a:t>对偶基</a:t>
                </a:r>
                <a:r>
                  <a:rPr lang="en-US" altLang="zh-CN" sz="3200" dirty="0"/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92" y="657067"/>
                <a:ext cx="9825288" cy="1723549"/>
              </a:xfrm>
              <a:prstGeom prst="rect">
                <a:avLst/>
              </a:prstGeom>
              <a:blipFill rotWithShape="1">
                <a:blip r:embed="rId5"/>
                <a:stretch>
                  <a:fillRect l="-1" t="-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944572" y="2203072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019392" y="2203072"/>
                <a:ext cx="9825288" cy="182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 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那么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的一组形如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{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sSup>
                      <m:sSup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⋯,</m:t>
                    </m:r>
                    <m:sSup>
                      <m:sSup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</m:e>
                      <m:sup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的基</a:t>
                </a:r>
                <a:r>
                  <a:rPr lang="zh-CN" altLang="en-US" sz="3200" dirty="0"/>
                  <a:t>被称为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正规基</a:t>
                </a:r>
                <a:r>
                  <a:rPr lang="en-US" altLang="zh-CN" sz="3200" dirty="0"/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92" y="2203072"/>
                <a:ext cx="9825288" cy="1828770"/>
              </a:xfrm>
              <a:prstGeom prst="rect">
                <a:avLst/>
              </a:prstGeom>
              <a:blipFill rotWithShape="1">
                <a:blip r:embed="rId6"/>
                <a:stretch>
                  <a:fillRect l="-1" t="-1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44572" y="3863711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019392" y="3863711"/>
                <a:ext cx="942459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对于一个有限域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及其有限扩张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，都存在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的一组正规基</a:t>
                </a:r>
                <a:r>
                  <a:rPr lang="en-US" altLang="zh-CN" sz="3200" dirty="0"/>
                  <a:t>. 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019392" y="3863711"/>
                <a:ext cx="9424596" cy="1077218"/>
              </a:xfrm>
              <a:prstGeom prst="rect">
                <a:avLst/>
              </a:prstGeom>
              <a:blipFill rotWithShape="1">
                <a:blip r:embed="rId8"/>
                <a:stretch>
                  <a:fillRect l="-1" t="-34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825288" cy="4154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的次数为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. </m:t>
                    </m:r>
                  </m:oMath>
                </a14:m>
                <a:r>
                  <a:rPr lang="zh-CN" altLang="en-US" sz="3200" dirty="0"/>
                  <a:t>我们定义元素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</a:t>
                </a:r>
                <a:r>
                  <a:rPr lang="zh-CN" altLang="en-US" sz="3200" b="1" dirty="0"/>
                  <a:t>判别式</a:t>
                </a:r>
                <a:r>
                  <a:rPr lang="zh-CN" altLang="en-US" sz="3200" dirty="0"/>
                  <a:t>为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dirty="0">
                    <a:solidFill>
                      <a:srgbClr val="3B862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n-US" altLang="zh-CN" sz="3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US" altLang="zh-CN" sz="3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Tr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Tr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Tr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Tr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kumimoji="0" lang="en-US" altLang="zh-CN" sz="3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3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Tr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kumimoji="0" lang="en-US" altLang="zh-CN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3200" i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Tr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/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3200" i="1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3200" b="0" i="1" smtClean="0">
                                                      <a:solidFill>
                                                        <a:srgbClr val="3B862E"/>
                                                      </a:solidFill>
                                                      <a:latin typeface="Cambria Math" panose="02040503050406030204" pitchFamily="18" charset="0"/>
                                                      <a:sym typeface="Symbol" panose="05050102010706020507" pitchFamily="18" charset="2"/>
                                                    </a:rPr>
                                                    <m:t>𝑚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altLang="zh-CN" sz="320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⋮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3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Tr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Tr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3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200" i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Tr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4154792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1613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的次数为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，</m:t>
                    </m:r>
                  </m:oMath>
                </a14:m>
                <a:r>
                  <a:rPr lang="zh-CN" altLang="en-US" sz="3200" dirty="0"/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上的一组基，当且仅当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dirty="0"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1613775"/>
              </a:xfrm>
              <a:prstGeom prst="rect">
                <a:avLst/>
              </a:prstGeom>
              <a:blipFill rotWithShape="1">
                <a:blip r:embed="rId6"/>
                <a:stretch>
                  <a:fillRect l="-3" t="-16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3018032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推论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355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sup>
                        </m:sSup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/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的一组基，当且仅当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3200" i="1">
                              <a:solidFill>
                                <a:srgbClr val="70AD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>
                                  <a:solidFill>
                                    <a:srgbClr val="70AD47">
                                      <a:lumMod val="75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sz="3200" i="1"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3200" i="1">
                                            <a:solidFill>
                                              <a:srgbClr val="70AD47">
                                                <a:lumMod val="75000"/>
                                              </a:srgb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sz="320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sz="320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en-US" altLang="zh-CN" sz="3200" i="1"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⋮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US" altLang="zh-CN" sz="3200" b="0" i="1" smtClean="0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−1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−1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3200" i="1">
                                        <a:solidFill>
                                          <a:srgbClr val="70AD47">
                                            <a:lumMod val="75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3200" i="1">
                                          <a:solidFill>
                                            <a:srgbClr val="70AD47">
                                              <a:lumMod val="7500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3200" i="1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smtClean="0">
                                              <a:solidFill>
                                                <a:srgbClr val="3B862E"/>
                                              </a:solidFill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US" altLang="zh-CN" sz="3200" i="1">
                                                  <a:solidFill>
                                                    <a:srgbClr val="3B862E"/>
                                                  </a:solidFill>
                                                  <a:latin typeface="Cambria Math" panose="02040503050406030204" pitchFamily="18" charset="0"/>
                                                  <a:sym typeface="Symbol" panose="05050102010706020507" pitchFamily="18" charset="2"/>
                                                </a:rPr>
                                                <m:t>−1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320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320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3556423"/>
              </a:xfrm>
              <a:prstGeom prst="rect">
                <a:avLst/>
              </a:prstGeom>
              <a:blipFill rotWithShape="1">
                <a:blip r:embed="rId6"/>
                <a:stretch>
                  <a:fillRect l="-3" t="-7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6274" y="139871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41094" y="1398714"/>
                <a:ext cx="9825288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为正整数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多项式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zh-CN" altLang="en-US" sz="3200" dirty="0"/>
                  <a:t>在域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上的分裂域称为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3200" b="1" dirty="0"/>
                  <a:t> </a:t>
                </a:r>
                <a:r>
                  <a:rPr lang="zh-CN" altLang="en-US" sz="3200" b="1" dirty="0"/>
                  <a:t>次割圆域</a:t>
                </a:r>
                <a:r>
                  <a:rPr lang="zh-CN" altLang="en-US" sz="3200" dirty="0"/>
                  <a:t>，记为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多项式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latin typeface="Cambria Math" panose="02040503050406030204" pitchFamily="18" charset="0"/>
                      </a:rPr>
                      <m:t>中的根称为</m:t>
                    </m:r>
                    <m:r>
                      <m:rPr>
                        <m:nor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上的</a:t>
                </a:r>
                <a:r>
                  <a:rPr lang="zh-CN" alt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3200" b="1" dirty="0"/>
                  <a:t> 次单位根</a:t>
                </a:r>
                <a:r>
                  <a:rPr lang="zh-CN" altLang="en-US" sz="3200" dirty="0"/>
                  <a:t>，所有这些根的集合记为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094" y="1398714"/>
                <a:ext cx="9825288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5" t="-21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866274" y="402571"/>
            <a:ext cx="56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3.6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割圆域和割圆多项式</a:t>
            </a:r>
          </a:p>
        </p:txBody>
      </p:sp>
      <p:cxnSp>
        <p:nvCxnSpPr>
          <p:cNvPr id="6" name="直接连接符 6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3921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为正整数，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为特征为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的域</a:t>
                </a:r>
                <a:r>
                  <a:rPr lang="en-US" altLang="zh-CN" sz="3200" dirty="0">
                    <a:latin typeface="+mn-ea"/>
                  </a:rPr>
                  <a:t>. </a:t>
                </a:r>
              </a:p>
              <a:p>
                <a:pPr marL="571500" indent="-5715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3200" dirty="0">
                    <a:latin typeface="+mn-ea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∤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 次单位根集合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3200" dirty="0"/>
                  <a:t> 中关于乘法构成一个阶为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的循环群</a:t>
                </a:r>
                <a:r>
                  <a:rPr lang="en-US" altLang="zh-CN" sz="3200" dirty="0"/>
                  <a:t>.</a:t>
                </a:r>
              </a:p>
              <a:p>
                <a:pPr marL="571500" indent="-571500">
                  <a:spcAft>
                    <a:spcPts val="1200"/>
                  </a:spcAft>
                  <a:buAutoNum type="arabicPeriod"/>
                </a:pPr>
                <a:r>
                  <a:rPr lang="zh-CN" altLang="en-US" sz="320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其中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我们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有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+mn-ea"/>
                  </a:rPr>
                  <a:t>，并且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在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3200" i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latin typeface="Cambria Math" panose="02040503050406030204" pitchFamily="18" charset="0"/>
                      </a:rPr>
                      <m:t>中的根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200" dirty="0">
                    <a:latin typeface="+mn-ea"/>
                  </a:rPr>
                  <a:t> 的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/>
                  <a:t> 个元素，且每个根的重数为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3921715"/>
              </a:xfrm>
              <a:prstGeom prst="rect">
                <a:avLst/>
              </a:prstGeom>
              <a:blipFill rotWithShape="1">
                <a:blip r:embed="rId6"/>
                <a:stretch>
                  <a:fillRect l="-3" t="-7" r="3" b="-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4682446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证明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825288" cy="1590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为特征为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的域，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为不被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200" dirty="0"/>
                  <a:t> 整除的正整数</a:t>
                </a:r>
                <a:r>
                  <a:rPr lang="en-US" altLang="zh-CN" sz="3200" dirty="0">
                    <a:latin typeface="+mn-ea"/>
                  </a:rPr>
                  <a:t>. </a:t>
                </a:r>
                <a:r>
                  <a:rPr lang="zh-CN" altLang="en-US" sz="3200" dirty="0">
                    <a:latin typeface="+mn-ea"/>
                  </a:rPr>
                  <a:t>那么循环群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3200" dirty="0"/>
                  <a:t> 的一个生成元称为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上的一个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3200" b="1" dirty="0"/>
                  <a:t> </a:t>
                </a:r>
                <a:r>
                  <a:rPr lang="zh-CN" altLang="en-US" sz="3200" b="1" dirty="0"/>
                  <a:t>次本原单位根</a:t>
                </a:r>
                <a:r>
                  <a:rPr lang="en-US" altLang="zh-CN" sz="3200" dirty="0"/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1590179"/>
              </a:xfrm>
              <a:prstGeom prst="rect">
                <a:avLst/>
              </a:prstGeom>
              <a:blipFill rotWithShape="1">
                <a:blip r:embed="rId5"/>
                <a:stretch>
                  <a:fillRect l="-3" t="-17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3429000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推论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3429000"/>
                <a:ext cx="9424596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2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nor/>
                      </m:rPr>
                      <a:rPr lang="zh-CN" altLang="en-US" sz="3200" i="0">
                        <a:latin typeface="Cambria Math" panose="02040503050406030204" pitchFamily="18" charset="0"/>
                      </a:rPr>
                      <m:t> 上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恰好有</m:t>
                    </m:r>
                  </m:oMath>
                </a14:m>
                <a:r>
                  <a:rPr lang="en-US" altLang="zh-CN" sz="3200" b="0" i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l-GR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个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不同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次本原单位根</a:t>
                </a:r>
                <a:r>
                  <a:rPr lang="en-US" altLang="zh-CN" sz="3200"/>
                  <a:t>. </a:t>
                </a:r>
                <a:r>
                  <a:rPr lang="zh-CN" altLang="en-US" sz="3200"/>
                  <a:t>如果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>
                    <a:latin typeface="+mn-ea"/>
                  </a:rPr>
                  <a:t>一个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次本原单位根，那么所有的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次本原单位根是：</a:t>
                </a:r>
                <a:endParaRPr lang="en-US" altLang="zh-CN" sz="320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,1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altLang="zh-CN" sz="3200" b="0" i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US" altLang="zh-CN" sz="3200">
                  <a:solidFill>
                    <a:srgbClr val="3B862E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856429" y="3429000"/>
                <a:ext cx="9424596" cy="2369880"/>
              </a:xfrm>
              <a:prstGeom prst="rect">
                <a:avLst/>
              </a:prstGeom>
              <a:blipFill rotWithShape="1">
                <a:blip r:embed="rId7"/>
                <a:stretch>
                  <a:fillRect l="-3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9" y="691143"/>
                <a:ext cx="9825288" cy="3109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多项式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0" i="0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solidFill>
                                          <a:srgbClr val="3B862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gcd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3B862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3B862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3B862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3B862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CN" sz="3200" b="0" i="1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sub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称为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 上的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3200" b="1" dirty="0"/>
                  <a:t> </a:t>
                </a:r>
                <a:r>
                  <a:rPr lang="zh-CN" altLang="en-US" sz="3200" b="1" dirty="0"/>
                  <a:t>次割圆多项式</a:t>
                </a:r>
                <a:r>
                  <a:rPr lang="en-US" altLang="zh-CN" sz="3200" dirty="0"/>
                  <a:t>.</a:t>
                </a:r>
                <a:endParaRPr kumimoji="0" lang="en-US" altLang="zh-CN" sz="320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825288" cy="3109634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2924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为特征为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的域</a:t>
                </a:r>
                <a:r>
                  <a:rPr lang="zh-CN" altLang="en-US" sz="32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是一个不被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整除的正整数</a:t>
                </a:r>
                <a:r>
                  <a:rPr lang="en-US" altLang="zh-CN" sz="3200" dirty="0"/>
                  <a:t>. </a:t>
                </a:r>
                <a:r>
                  <a:rPr lang="zh-CN" altLang="en-US" sz="3200" dirty="0">
                    <a:latin typeface="+mn-ea"/>
                  </a:rPr>
                  <a:t>我们有</a:t>
                </a:r>
              </a:p>
              <a:p>
                <a:pPr marL="571500" indent="-5715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32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  <a:p>
                <a:pPr marL="571500" indent="-571500">
                  <a:spcAft>
                    <a:spcPts val="1200"/>
                  </a:spcAft>
                  <a:buAutoNum type="arabicPeriod"/>
                </a:pP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+mn-ea"/>
                  </a:rPr>
                  <a:t> 的系数属于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nor/>
                      </m:rPr>
                      <a:rPr lang="en-US" altLang="zh-CN" sz="3200" i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3200" i="0">
                        <a:latin typeface="Cambria Math" panose="02040503050406030204" pitchFamily="18" charset="0"/>
                      </a:rPr>
                      <m:t>的素子域</m:t>
                    </m:r>
                    <m:r>
                      <m:rPr>
                        <m:nor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+mn-ea"/>
                  </a:rPr>
                  <a:t> </a:t>
                </a:r>
                <a:r>
                  <a:rPr lang="zh-CN" altLang="en-US" sz="3200" dirty="0">
                    <a:latin typeface="+mn-ea"/>
                  </a:rPr>
                  <a:t>并且如果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的素子域为有理数域，那么这些系数属于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2924134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32979" y="848250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907799" y="848250"/>
                <a:ext cx="9451221" cy="5137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设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为一个素数且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则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特别地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32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时，有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99" y="848250"/>
                <a:ext cx="9451221" cy="5137753"/>
              </a:xfrm>
              <a:prstGeom prst="rect">
                <a:avLst/>
              </a:prstGeom>
              <a:blipFill rotWithShape="1">
                <a:blip r:embed="rId3"/>
                <a:stretch>
                  <a:fillRect l="-3" t="-10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4554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zh-CN" altLang="en-US" sz="3200" i="0" smtClean="0">
                          <a:latin typeface="Cambria Math" panose="02040503050406030204" pitchFamily="18" charset="0"/>
                        </a:rPr>
                        <m:t>割圆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3200" b="0" i="1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3200" i="0">
                          <a:latin typeface="Cambria Math" panose="02040503050406030204" pitchFamily="18" charset="0"/>
                        </a:rPr>
                        <m:t>的一个单代数扩张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并且</m:t>
                      </m:r>
                    </m:oMath>
                  </m:oMathPara>
                </a14:m>
                <a:endParaRPr lang="zh-CN" altLang="en-US" sz="3200" dirty="0">
                  <a:latin typeface="+mn-ea"/>
                </a:endParaRPr>
              </a:p>
              <a:p>
                <a:pPr marL="571500" indent="-5715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320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，则割圆多项式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+mn-ea"/>
                  </a:rPr>
                  <a:t> </a:t>
                </a:r>
                <a:r>
                  <a:rPr lang="zh-CN" altLang="en-US" sz="3200" dirty="0">
                    <a:latin typeface="+mn-ea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 上不可约，且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l-GR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3200" dirty="0"/>
                  <a:t>.</a:t>
                </a:r>
              </a:p>
              <a:p>
                <a:pPr marL="571500" indent="-571500">
                  <a:spcAft>
                    <a:spcPts val="1200"/>
                  </a:spcAft>
                  <a:buFontTx/>
                  <a:buAutoNum type="arabicPeriod"/>
                </a:pPr>
                <a:r>
                  <a:rPr lang="zh-CN" altLang="en-US" sz="320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且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我们令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是满足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1 (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</a:rPr>
                  <a:t> </a:t>
                </a:r>
                <a:r>
                  <a:rPr lang="zh-CN" altLang="en-US" sz="3200" dirty="0"/>
                  <a:t>的最小正整数，则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/>
                  <a:t> 可以分解为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l-GR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3200" dirty="0"/>
                  <a:t> 个在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dirty="0"/>
                  <a:t> 中的不同的首一不可约多项式，它们的次数均为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，</a:t>
                </a:r>
                <a:r>
                  <a:rPr lang="en-US" altLang="zh-CN" sz="3200" dirty="0">
                    <a:solidFill>
                      <a:srgbClr val="3B862E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</a:rPr>
                  <a:t>是</a:t>
                </a:r>
                <a:r>
                  <a:rPr lang="zh-CN" altLang="en-US" sz="3200" dirty="0"/>
                  <a:t>任何一个这样的不可约因式在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dirty="0"/>
                  <a:t>上的分裂域，且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4554324"/>
              </a:xfrm>
              <a:prstGeom prst="rect">
                <a:avLst/>
              </a:prstGeom>
              <a:blipFill rotWithShape="1">
                <a:blip r:embed="rId6"/>
                <a:stretch>
                  <a:fillRect l="-3" t="-6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622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>
                    <a:latin typeface="+mn-ea"/>
                  </a:rPr>
                  <a:t>有限域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/>
                  <a:t> 是其任一子域上的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200" b="0" i="1" smtClean="0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次割圆域</a:t>
                </a:r>
                <a:r>
                  <a:rPr lang="en-US" altLang="zh-CN" sz="3200"/>
                  <a:t>.</a:t>
                </a:r>
                <a:endParaRPr lang="en-US" altLang="zh-CN" sz="320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622735"/>
              </a:xfrm>
              <a:prstGeom prst="rect">
                <a:avLst/>
              </a:prstGeom>
              <a:blipFill rotWithShape="1">
                <a:blip r:embed="rId6"/>
                <a:stretch>
                  <a:fillRect l="-3" t="-42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1609" y="69114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引理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856429" y="691143"/>
                <a:ext cx="9424596" cy="111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/>
                  <a:t>如果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是正整数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/>
                  <a:t> </a:t>
                </a:r>
                <a:r>
                  <a:rPr lang="zh-CN" altLang="en-US" sz="3200"/>
                  <a:t>的一个因子，且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/>
                  <a:t>，那么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/>
                  <a:t> 整除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−1)/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3200">
                    <a:solidFill>
                      <a:srgbClr val="3B862E"/>
                    </a:solidFill>
                  </a:rPr>
                  <a:t>.</a:t>
                </a:r>
                <a:endParaRPr lang="en-US" altLang="zh-CN" sz="3200">
                  <a:latin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856429" y="691143"/>
                <a:ext cx="9424596" cy="1119409"/>
              </a:xfrm>
              <a:prstGeom prst="rect">
                <a:avLst/>
              </a:prstGeom>
              <a:blipFill rotWithShape="1">
                <a:blip r:embed="rId6"/>
                <a:stretch>
                  <a:fillRect l="-3" t="-23" r="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66273" y="412924"/>
            <a:ext cx="5154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§ </a:t>
            </a:r>
            <a:r>
              <a:rPr lang="zh-CN" altLang="en-US" sz="3600" b="1" dirty="0">
                <a:latin typeface="+mn-ea"/>
              </a:rPr>
              <a:t>有限域元素的表示方法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6273" y="2641118"/>
            <a:ext cx="1514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290270" y="1388728"/>
                <a:ext cx="8644429" cy="1153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给定有限域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，其中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3200" dirty="0"/>
                  <a:t>，</a:t>
                </a:r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200" dirty="0"/>
                  <a:t> 为域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的特征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我们将介绍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中元素的三种表示方法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270" y="1388728"/>
                <a:ext cx="8644429" cy="1153136"/>
              </a:xfrm>
              <a:prstGeom prst="rect">
                <a:avLst/>
              </a:prstGeom>
              <a:blipFill rotWithShape="1">
                <a:blip r:embed="rId2"/>
                <a:stretch>
                  <a:fillRect l="-5" t="-54" r="7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290271" y="2641118"/>
                <a:ext cx="8644428" cy="4042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我们知道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是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的单扩张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不妨设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，多项式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3200" dirty="0"/>
                  <a:t> 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上的极小多项式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于是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 ，且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 . </a:t>
                </a:r>
                <a:r>
                  <a:rPr lang="zh-CN" altLang="en-US" sz="3200" dirty="0"/>
                  <a:t>从而我们可以将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 中元素表述为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3200" dirty="0"/>
                  <a:t> ，或者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271" y="2641118"/>
                <a:ext cx="8644428" cy="4042773"/>
              </a:xfrm>
              <a:prstGeom prst="rect">
                <a:avLst/>
              </a:prstGeom>
              <a:blipFill rotWithShape="1">
                <a:blip r:embed="rId3"/>
                <a:stretch>
                  <a:fillRect l="-5" t="-4" r="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给定有限域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sz="3200" dirty="0"/>
                  <a:t> 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上的二次不可约多项式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设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的一个根，即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723549"/>
              </a:xfrm>
              <a:prstGeom prst="rect">
                <a:avLst/>
              </a:prstGeom>
              <a:blipFill rotWithShape="1">
                <a:blip r:embed="rId3"/>
                <a:stretch>
                  <a:fillRect l="-3" t="-15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694073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989220" y="2452651"/>
                <a:ext cx="9003184" cy="1269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+2, 2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,2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+1, 2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altLang="zh-CN" sz="3200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220" y="2452651"/>
                <a:ext cx="9003184" cy="1269065"/>
              </a:xfrm>
              <a:prstGeom prst="rect">
                <a:avLst/>
              </a:prstGeom>
              <a:blipFill rotWithShape="1">
                <a:blip r:embed="rId4"/>
                <a:stretch>
                  <a:fillRect l="-4" t="-22" r="6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622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500"/>
                  </a:spcAft>
                </a:pPr>
                <a:r>
                  <a:rPr lang="zh-CN" altLang="en-US" sz="3200" dirty="0"/>
                  <a:t>假设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zh-CN" sz="3200" b="0" i="1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3200" dirty="0"/>
                  <a:t>的本原元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b="0" dirty="0">
                  <a:solidFill>
                    <a:srgbClr val="3B862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622735"/>
              </a:xfrm>
              <a:prstGeom prst="rect">
                <a:avLst/>
              </a:prstGeom>
              <a:blipFill rotWithShape="1">
                <a:blip r:embed="rId2"/>
                <a:stretch>
                  <a:fillRect l="-3" t="-42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45751" y="222166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56428" y="2123373"/>
                <a:ext cx="9268767" cy="379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给定有限域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注意到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(8)</m:t>
                        </m:r>
                      </m:sup>
                    </m:sSubSup>
                  </m:oMath>
                </a14:m>
                <a:r>
                  <a:rPr lang="zh-CN" altLang="en-US" sz="3200" dirty="0"/>
                  <a:t>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sz="3200" i="1" dirty="0"/>
                  <a:t> </a:t>
                </a:r>
                <a:r>
                  <a:rPr lang="zh-CN" altLang="en-US" sz="3200" dirty="0"/>
                  <a:t>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zh-CN" altLang="en-US" sz="3200" dirty="0"/>
                  <a:t> 次割圆域。通过计算可以得到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+1=(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+2)(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+2).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为不可约多项式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的根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那么可知，</a:t>
                </a:r>
                <a14:m>
                  <m:oMath xmlns:m="http://schemas.openxmlformats.org/officeDocument/2006/math"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sz="3200" dirty="0"/>
                  <a:t> 的本原元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于是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3200" i="1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zh-CN" sz="32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8" y="2123373"/>
                <a:ext cx="9268767" cy="3794372"/>
              </a:xfrm>
              <a:prstGeom prst="rect">
                <a:avLst/>
              </a:prstGeom>
              <a:blipFill rotWithShape="1">
                <a:blip r:embed="rId3"/>
                <a:stretch>
                  <a:fillRect l="-3" t="-15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541169" y="688435"/>
            <a:ext cx="1351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5751" y="1504042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问题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56429" y="1504042"/>
            <a:ext cx="5918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</a:pPr>
            <a:r>
              <a:rPr lang="zh-CN" altLang="en-US" sz="3200" dirty="0"/>
              <a:t>如何寻找本原元或者本原多项式？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63601" y="399128"/>
                <a:ext cx="10992674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注意到元素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200" i="1">
                        <a:solidFill>
                          <a:srgbClr val="3B862E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=1+</m:t>
                    </m:r>
                    <m:r>
                      <a:rPr lang="zh-CN" altLang="en-US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3200" dirty="0"/>
                  <a:t> 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zh-CN" altLang="en-US" sz="3200" dirty="0"/>
                  <a:t> 的根，其中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1=0.</m:t>
                    </m:r>
                  </m:oMath>
                </a14:m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于是我们有如下的元素对应表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1" y="399128"/>
                <a:ext cx="10992674" cy="1231106"/>
              </a:xfrm>
              <a:prstGeom prst="rect">
                <a:avLst/>
              </a:prstGeom>
              <a:blipFill rotWithShape="1">
                <a:blip r:embed="rId3"/>
                <a:stretch>
                  <a:fillRect t="-28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/>
          <p:cNvGrpSpPr/>
          <p:nvPr/>
        </p:nvGrpSpPr>
        <p:grpSpPr>
          <a:xfrm>
            <a:off x="4019941" y="1635820"/>
            <a:ext cx="3531704" cy="4823052"/>
            <a:chOff x="4330148" y="1868701"/>
            <a:chExt cx="3531704" cy="48230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4330148" y="1868701"/>
                  <a:ext cx="3531704" cy="48230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32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/>
                            <m:e/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32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2+2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 sz="3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148" y="1868701"/>
                  <a:ext cx="3531704" cy="482305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/>
            <p:cNvCxnSpPr/>
            <p:nvPr/>
          </p:nvCxnSpPr>
          <p:spPr>
            <a:xfrm>
              <a:off x="4532243" y="2345635"/>
              <a:ext cx="3087757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5221356" y="1922249"/>
              <a:ext cx="0" cy="476950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042991" y="1922249"/>
              <a:ext cx="0" cy="476950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73491" y="84968"/>
            <a:ext cx="1437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种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66702" y="84968"/>
                <a:ext cx="9553963" cy="504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 次首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多项式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我们称如下矩阵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为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/>
                  <a:t> 的伴随矩阵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可以验证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32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altLang="zh-CN" sz="3200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𝑥𝐼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702" y="84968"/>
                <a:ext cx="9553963" cy="5048883"/>
              </a:xfrm>
              <a:prstGeom prst="rect">
                <a:avLst/>
              </a:prstGeom>
              <a:blipFill rotWithShape="1">
                <a:blip r:embed="rId3"/>
                <a:stretch>
                  <a:fillRect l="-5" t="-1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73491" y="5133851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648311" y="5133851"/>
                <a:ext cx="92687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，其中 </a:t>
                </a:r>
                <a:r>
                  <a:rPr lang="en-US" altLang="zh-CN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 </a:t>
                </a:r>
                <a:r>
                  <a:rPr lang="zh-CN" altLang="en-US" sz="3200" dirty="0"/>
                  <a:t>为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 阶单位阵</a:t>
                </a:r>
                <a:r>
                  <a:rPr lang="en-US" altLang="zh-CN" sz="3200" dirty="0"/>
                  <a:t>.</a:t>
                </a:r>
                <a:endParaRPr lang="en-US" altLang="zh-CN" sz="3200" dirty="0">
                  <a:solidFill>
                    <a:srgbClr val="3B862E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311" y="5133851"/>
                <a:ext cx="9268767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5" t="-47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718013" y="287105"/>
                <a:ext cx="9268767" cy="160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因此若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200" dirty="0"/>
                  <a:t> 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次首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/>
                  <a:t>不可约多项式，那么其伴随矩阵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3200" dirty="0"/>
                  <a:t> 满足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/>
                  <a:t>. </a:t>
                </a:r>
                <a:r>
                  <a:rPr lang="zh-CN" altLang="en-US" sz="3200" dirty="0"/>
                  <a:t>我们可以将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3200" dirty="0"/>
                  <a:t> 看成是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/>
                  <a:t> 的一个根</a:t>
                </a:r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013" y="287105"/>
                <a:ext cx="9268767" cy="1607620"/>
              </a:xfrm>
              <a:prstGeom prst="rect">
                <a:avLst/>
              </a:prstGeom>
              <a:blipFill rotWithShape="1">
                <a:blip r:embed="rId3"/>
                <a:stretch>
                  <a:fillRect l="-4" t="-5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515624" y="2623418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215900" progId="Equation.KSEE3">
                  <p:embed/>
                </p:oleObj>
              </mc:Choice>
              <mc:Fallback>
                <p:oleObj r:id="rId4" imgW="914400" imgH="215900" progId="Equation.KSEE3">
                  <p:embed/>
                  <p:pic>
                    <p:nvPicPr>
                      <p:cNvPr id="0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15624" y="2623418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43193" y="2100379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718013" y="2116970"/>
                <a:ext cx="9268767" cy="2398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令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+1∈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altLang="zh-CN" sz="3200" dirty="0"/>
                  <a:t>. </a:t>
                </a:r>
                <a:r>
                  <a:rPr lang="zh-CN" altLang="en-US" sz="3200" dirty="0"/>
                  <a:t>其伴随矩阵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={0,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013" y="2116970"/>
                <a:ext cx="9268767" cy="2398029"/>
              </a:xfrm>
              <a:prstGeom prst="rect">
                <a:avLst/>
              </a:prstGeom>
              <a:blipFill rotWithShape="1">
                <a:blip r:embed="rId6"/>
                <a:stretch>
                  <a:fillRect l="-4" t="-2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795640" y="4514999"/>
                <a:ext cx="9268767" cy="2404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还可以取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zh-CN" altLang="en-US" sz="3200" dirty="0"/>
                  <a:t> 及其伴随矩阵</a:t>
                </a:r>
                <a:endParaRPr lang="en-US" altLang="zh-CN" sz="32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={0,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,⋯,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640" y="4514999"/>
                <a:ext cx="9268767" cy="2404761"/>
              </a:xfrm>
              <a:prstGeom prst="rect">
                <a:avLst/>
              </a:prstGeom>
              <a:blipFill rotWithShape="1">
                <a:blip r:embed="rId7"/>
                <a:stretch>
                  <a:fillRect l="-5" t="-6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66274" y="402571"/>
                <a:ext cx="64108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b="1" dirty="0">
                    <a:latin typeface="+mn-ea"/>
                  </a:rPr>
                  <a:t>有限域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GF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600" b="1" dirty="0">
                    <a:latin typeface="+mn-ea"/>
                  </a:rPr>
                  <a:t>在系统中的实现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74" y="402571"/>
                <a:ext cx="6410826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2" t="-9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866274" y="1487013"/>
            <a:ext cx="1173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059630" y="1487013"/>
                <a:ext cx="85321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上的二次本原多项式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zh-CN" altLang="en-US" sz="3200" dirty="0"/>
                  <a:t>我们有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]/(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+1)={0,1,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+1}.</m:t>
                    </m:r>
                  </m:oMath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30" y="1487013"/>
                <a:ext cx="8532167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" t="-30" r="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0" y="105925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5868960" y="5321010"/>
            <a:ext cx="6160168" cy="1006269"/>
            <a:chOff x="6031832" y="5598541"/>
            <a:chExt cx="6160168" cy="1006269"/>
          </a:xfrm>
        </p:grpSpPr>
        <p:sp>
          <p:nvSpPr>
            <p:cNvPr id="9" name="文本框 8"/>
            <p:cNvSpPr txBox="1"/>
            <p:nvPr/>
          </p:nvSpPr>
          <p:spPr>
            <a:xfrm>
              <a:off x="6031832" y="6020035"/>
              <a:ext cx="6160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加法</a:t>
              </a:r>
              <a:r>
                <a:rPr lang="zh-CN" altLang="en-US" sz="3200" b="1" dirty="0">
                  <a:solidFill>
                    <a:schemeClr val="accent1"/>
                  </a:solidFill>
                </a:rPr>
                <a:t>：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二元序列</a:t>
              </a: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</a:rPr>
                <a:t>XOR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运算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6492881" y="5598541"/>
              <a:ext cx="0" cy="39093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2059630" y="2766837"/>
            <a:ext cx="7708897" cy="2890471"/>
            <a:chOff x="2059630" y="2766837"/>
            <a:chExt cx="7708897" cy="2890471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2059631" y="3313239"/>
              <a:ext cx="7607297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685231" y="2766837"/>
              <a:ext cx="0" cy="249009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2059630" y="2766837"/>
                  <a:ext cx="7708897" cy="28904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32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sz="3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生成元</m:t>
                              </m:r>
                            </m:e>
                            <m:e>
                              <m:r>
                                <a:rPr lang="zh-CN" altLang="en-US" sz="3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多项式</m:t>
                              </m:r>
                            </m:e>
                            <m:e>
                              <m:r>
                                <a:rPr lang="zh-CN" altLang="en-US" sz="3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二元</m:t>
                              </m:r>
                              <m:r>
                                <a:rPr lang="zh-CN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序列</m:t>
                              </m:r>
                            </m:e>
                            <m:e>
                              <m:r>
                                <a:rPr lang="zh-CN" altLang="en-US" sz="3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二</m:t>
                              </m:r>
                              <m:r>
                                <a:rPr lang="zh-CN" alt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进制</m:t>
                              </m:r>
                              <m:r>
                                <a:rPr lang="zh-CN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整数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320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zh-CN" alt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/>
                            <m:e/>
                            <m:e/>
                            <m:e/>
                          </m:mr>
                        </m:m>
                      </m:oMath>
                    </m:oMathPara>
                  </a14:m>
                  <a:endParaRPr lang="zh-CN" altLang="en-US" sz="3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9630" y="2766837"/>
                  <a:ext cx="7708897" cy="289047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/>
            <p:cNvCxnSpPr/>
            <p:nvPr/>
          </p:nvCxnSpPr>
          <p:spPr>
            <a:xfrm>
              <a:off x="7346144" y="2766837"/>
              <a:ext cx="0" cy="249009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5320218" y="2766837"/>
              <a:ext cx="0" cy="249009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给定有限域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GF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3200" dirty="0"/>
                  <a:t>以及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/>
                  <a:t> 上的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3200" dirty="0"/>
                  <a:t> 次本原多项式</a:t>
                </a:r>
                <a:r>
                  <a:rPr lang="en-US" altLang="zh-CN" sz="32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于是</a:t>
                </a:r>
                <a:endParaRPr lang="zh-CN" altLang="zh-CN" sz="1800" dirty="0">
                  <a:effectLst/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877437"/>
              </a:xfrm>
              <a:prstGeom prst="rect">
                <a:avLst/>
              </a:prstGeom>
              <a:blipFill rotWithShape="1">
                <a:blip r:embed="rId3"/>
                <a:stretch>
                  <a:fillRect l="-3" t="-14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461616" y="2051075"/>
                <a:ext cx="926876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320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)={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616" y="2051075"/>
                <a:ext cx="9268767" cy="738664"/>
              </a:xfrm>
              <a:prstGeom prst="rect">
                <a:avLst/>
              </a:prstGeom>
              <a:blipFill rotWithShape="1">
                <a:blip r:embed="rId4"/>
                <a:stretch>
                  <a:fillRect l="-5" t="-3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564328" y="3251264"/>
                <a:ext cx="926876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):</m:t>
                      </m:r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328" y="3251264"/>
                <a:ext cx="9268767" cy="738664"/>
              </a:xfrm>
              <a:prstGeom prst="rect">
                <a:avLst/>
              </a:prstGeom>
              <a:blipFill rotWithShape="1">
                <a:blip r:embed="rId5"/>
                <a:stretch>
                  <a:fillRect l="-3" t="-9" r="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2466027" y="4465249"/>
                <a:ext cx="926876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⋅2+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027" y="4465249"/>
                <a:ext cx="9268767" cy="738664"/>
              </a:xfrm>
              <a:prstGeom prst="rect">
                <a:avLst/>
              </a:prstGeom>
              <a:blipFill rotWithShape="1">
                <a:blip r:embed="rId6"/>
                <a:stretch>
                  <a:fillRect l="-3" t="-76" r="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327709" y="5147933"/>
                <a:ext cx="926876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sSup>
                        <m:sSup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]={0,</m:t>
                      </m:r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,⋯,</m:t>
                      </m:r>
                      <m:sSup>
                        <m:sSupPr>
                          <m:ctrlP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709" y="5147933"/>
                <a:ext cx="9268767" cy="738664"/>
              </a:xfrm>
              <a:prstGeom prst="rect">
                <a:avLst/>
              </a:prstGeom>
              <a:blipFill rotWithShape="1">
                <a:blip r:embed="rId7"/>
                <a:stretch>
                  <a:fillRect l="-6" t="-84" r="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>
          <a:xfrm>
            <a:off x="5156200" y="2789739"/>
            <a:ext cx="0" cy="461525"/>
          </a:xfrm>
          <a:prstGeom prst="straightConnector1">
            <a:avLst/>
          </a:prstGeom>
          <a:ln w="19050">
            <a:solidFill>
              <a:srgbClr val="3B862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5168900" y="4003724"/>
            <a:ext cx="0" cy="461525"/>
          </a:xfrm>
          <a:prstGeom prst="straightConnector1">
            <a:avLst/>
          </a:prstGeom>
          <a:ln w="19050">
            <a:solidFill>
              <a:srgbClr val="3B862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11829" y="683786"/>
                <a:ext cx="1219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320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29" y="683786"/>
                <a:ext cx="1219200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27" t="-90" r="-700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059629" y="696486"/>
                <a:ext cx="92687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本原多项式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29" y="696486"/>
                <a:ext cx="9268767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3" t="-90" r="7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287" y="1281261"/>
            <a:ext cx="4613426" cy="543089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751468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加法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751468"/>
                <a:ext cx="9268767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11+7=1011⊕0111=1100=12</m:t>
                      </m:r>
                    </m:oMath>
                  </m:oMathPara>
                </a14:m>
                <a:endParaRPr lang="en-US" altLang="zh-CN" sz="3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/>
                  <a:t>需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3200" dirty="0"/>
                  <a:t> 次</a:t>
                </a:r>
                <a:r>
                  <a:rPr lang="en-US" altLang="zh-CN" sz="3200" dirty="0"/>
                  <a:t>XOR</a:t>
                </a:r>
                <a:r>
                  <a:rPr lang="zh-CN" altLang="en-US" sz="3200" dirty="0"/>
                  <a:t>运算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751468"/>
                <a:ext cx="9268767" cy="1231106"/>
              </a:xfrm>
              <a:prstGeom prst="rect">
                <a:avLst/>
              </a:prstGeom>
              <a:blipFill rotWithShape="1">
                <a:blip r:embed="rId3"/>
                <a:stretch>
                  <a:fillRect l="-3" t="-21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81609" y="2077170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56429" y="2077169"/>
            <a:ext cx="9268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dirty="0"/>
              <a:t>首先我们需要定义如下对数表</a:t>
            </a:r>
            <a:endParaRPr lang="en-US" altLang="zh-CN" sz="3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475945" y="5920692"/>
            <a:ext cx="5240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dirty="0"/>
              <a:t>需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zh-CN" altLang="en-US" sz="3200" dirty="0"/>
              <a:t>次查表，和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zh-CN" altLang="en-US" sz="3200" dirty="0"/>
              <a:t>次模运算</a:t>
            </a:r>
            <a:endParaRPr lang="en-US" altLang="zh-CN" sz="32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799" y="2673915"/>
            <a:ext cx="9550400" cy="2106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0" y="4844217"/>
                <a:ext cx="12382500" cy="995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6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gfilog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gflog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gflog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ilo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4+10</m:t>
                          </m:r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ilo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altLang="zh-CN" sz="26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13÷10=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gfilog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gflog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13</m:t>
                              </m:r>
                            </m:e>
                          </m:d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flog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ilo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13−9</m:t>
                          </m:r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gf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ilo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zh-CN" altLang="en-US" sz="2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26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44217"/>
                <a:ext cx="12382500" cy="995657"/>
              </a:xfrm>
              <a:prstGeom prst="rect">
                <a:avLst/>
              </a:prstGeom>
              <a:blipFill rotWithShape="1">
                <a:blip r:embed="rId5"/>
                <a:stretch>
                  <a:fillRect t="-44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100546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引理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1005468"/>
                <a:ext cx="9268767" cy="4154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给定域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及其上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个变量的多项式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假设对于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关于变量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的次数至多是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并且我们令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⊂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至少包含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个不同的域元素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)=0 ,∀</m:t>
                      </m:r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×⋯×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那么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是零多项式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1005468"/>
                <a:ext cx="9268767" cy="4154170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80390" y="316865"/>
            <a:ext cx="10342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</a:rPr>
              <a:t>组合零点定理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05468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10076038" cy="347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（</a:t>
                </a:r>
                <a:r>
                  <a:rPr lang="en-US" altLang="zh-CN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Hilbert 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零点定理）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给定域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及其上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b="1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个变量的多项式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中非空集合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如果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=0,∀</m:t>
                      </m:r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×⋯×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3200" b="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那么存在多项式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使得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𝑓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𝑖</m:t>
                        </m:r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=1</m:t>
                        </m:r>
                      </m:sub>
                      <m:sup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 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𝑔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eg</m:t>
                    </m:r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10076038" cy="3470275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931183" cy="275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（组合零点定理）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给定域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及其上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3200" b="1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个变量的多项式</a:t>
                </a:r>
                <a:r>
                  <a:rPr lang="en-US" altLang="zh-CN" sz="3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假设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的次数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deg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altLang="zh-CN" sz="3200" b="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并且单项式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3200" b="0" i="1" dirty="0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dirty="0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solidFill>
                                      <a:srgbClr val="3B862E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在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中的系数不为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.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如果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中满足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|&gt;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的子集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 </a:t>
                </a:r>
                <a:r>
                  <a:rPr lang="zh-CN" altLang="en-US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那么可以找到</a:t>
                </a:r>
                <a:r>
                  <a:rPr lang="en-US" altLang="zh-CN" sz="3200" b="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2,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使得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931183" cy="2753995"/>
              </a:xfrm>
              <a:prstGeom prst="rect">
                <a:avLst/>
              </a:prstGeom>
              <a:blipFill rotWithShape="1">
                <a:blip r:embed="rId3"/>
                <a:stretch>
                  <a:fillRect l="-3" t="-10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915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(Ca</a:t>
                </a:r>
                <a:r>
                  <a:rPr lang="en-US" altLang="zh-CN" sz="3200" b="1" dirty="0">
                    <a:solidFill>
                      <a:srgbClr val="C00000"/>
                    </a:solidFill>
                    <a:sym typeface="+mn-ea"/>
                  </a:rPr>
                  <a:t>u</a:t>
                </a: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chy-Davenport)</a:t>
                </a:r>
                <a:r>
                  <a:rPr 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为素数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并且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中两个非空子集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我们有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|≥</m:t>
                      </m:r>
                      <m:r>
                        <m:rPr>
                          <m:sty m:val="p"/>
                        </m:rPr>
                        <a:rPr lang="en-US" altLang="zh-CN" sz="3200" i="0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min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{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,|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|+|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|−1}.</m:t>
                      </m:r>
                    </m:oMath>
                  </m:oMathPara>
                </a14:m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915396"/>
              </a:xfrm>
              <a:prstGeom prst="rect">
                <a:avLst/>
              </a:prstGeom>
              <a:blipFill rotWithShape="1">
                <a:blip r:embed="rId3"/>
                <a:stretch>
                  <a:fillRect l="-3" t="-14" r="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64229" y="45575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74536" y="455753"/>
                <a:ext cx="9268767" cy="4194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（</a:t>
                </a:r>
                <a:r>
                  <a:rPr lang="en-US" altLang="zh-CN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Chevalley-Warning</a:t>
                </a:r>
                <a:r>
                  <a:rPr lang="zh-CN" altLang="en-US" sz="3200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定理）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为素数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给定环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𝑝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[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,⋯,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]</m:t>
                    </m:r>
                  </m:oMath>
                </a14:m>
                <a:r>
                  <a:rPr lang="en-US" altLang="zh-CN" sz="3200" i="1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𝑚</m:t>
                    </m:r>
                  </m:oMath>
                </a14:m>
                <a:r>
                  <a:rPr lang="en-US" altLang="zh-CN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个多项式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 dirty="0" smtClean="0">
                                  <a:solidFill>
                                    <a:srgbClr val="3B862E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 dirty="0" smtClean="0">
                              <a:solidFill>
                                <a:srgbClr val="3B862E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 dirty="0" smtClean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altLang="zh-CN" sz="3200" i="1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如果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&gt;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𝑖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=1</m:t>
                        </m:r>
                      </m:sub>
                      <m:sup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3200" i="0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deg</m:t>
                        </m:r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)</m:t>
                        </m:r>
                      </m:e>
                    </m:nary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𝑃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,...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𝑃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的公共零点数目</a:t>
                </a:r>
                <a14:m>
                  <m:oMath xmlns:m="http://schemas.openxmlformats.org/officeDocument/2006/math">
                    <m:r>
                      <a:rPr lang="zh-CN" altLang="en-US" sz="3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是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𝑝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的倍数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36" y="455753"/>
                <a:ext cx="9268767" cy="4194610"/>
              </a:xfrm>
              <a:prstGeom prst="rect">
                <a:avLst/>
              </a:prstGeom>
              <a:blipFill rotWithShape="1">
                <a:blip r:embed="rId3"/>
                <a:stretch>
                  <a:fillRect t="-11" r="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831735" y="465036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</a:rPr>
              <a:t>注记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83429" y="4650363"/>
            <a:ext cx="926876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Artin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于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1934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年提出猜想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, Chevalley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在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1935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年给出证明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, 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并由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Waning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在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1935</a:t>
            </a:r>
            <a:r>
              <a:rPr lang="zh-CN" altLang="en-US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年推广</a:t>
            </a:r>
            <a:r>
              <a:rPr lang="en-US" altLang="zh-CN" sz="32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6020" y="576351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</a:rPr>
              <a:t>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197735" y="5812155"/>
                <a:ext cx="8945880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证明若在任意有限域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上考虑该问题，结论换成公共零点数目是域的特征的倍数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735" y="5812155"/>
                <a:ext cx="8945880" cy="10763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27288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8" y="691143"/>
                <a:ext cx="9695793" cy="1670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(零和问题)</a:t>
                </a:r>
                <a:r>
                  <a:rPr 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给定正整数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求最小的正整数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𝑚</m:t>
                    </m:r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使得任意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𝑚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长的整数序列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1,...,</m:t>
                        </m:r>
                      </m:sub>
                    </m:sSub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都存在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长的子序列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3B862E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200" dirty="0">
                    <a:solidFill>
                      <a:srgbClr val="3B862E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使得其和被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整除。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8" y="691143"/>
                <a:ext cx="9695793" cy="1670050"/>
              </a:xfrm>
              <a:prstGeom prst="rect">
                <a:avLst/>
              </a:prstGeom>
              <a:blipFill rotWithShape="1">
                <a:blip r:embed="rId3"/>
                <a:stretch>
                  <a:fillRect l="-3" t="-16" r="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27288" y="253391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下界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945963" y="2533913"/>
                <a:ext cx="9695793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𝑚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≥2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𝑛</m:t>
                      </m:r>
                      <m:r>
                        <a:rPr lang="en-US" altLang="zh-CN" sz="3200" i="1" dirty="0">
                          <a:solidFill>
                            <a:srgbClr val="3B862E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−1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963" y="2533913"/>
                <a:ext cx="9695793" cy="583565"/>
              </a:xfrm>
              <a:prstGeom prst="rect">
                <a:avLst/>
              </a:prstGeom>
              <a:blipFill rotWithShape="1">
                <a:blip r:embed="rId4"/>
                <a:stretch>
                  <a:fillRect l="-3" t="-45" r="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726999" y="381089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945964" y="3810898"/>
                <a:ext cx="9268767" cy="1229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(</a:t>
                </a:r>
                <a:r>
                  <a:rPr lang="en-US" sz="3200" b="1" dirty="0">
                    <a:solidFill>
                      <a:srgbClr val="C00000"/>
                    </a:solidFill>
                    <a:sym typeface="+mn-ea"/>
                  </a:rPr>
                  <a:t>Erdos-Ginzburg-Ziv</a:t>
                </a: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)</a:t>
                </a:r>
                <a:r>
                  <a:rPr lang="en-US" altLang="zh-CN" sz="3200" b="1" dirty="0">
                    <a:solidFill>
                      <a:srgbClr val="C00000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=2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−1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sz="3200" b="1" dirty="0">
                    <a:solidFill>
                      <a:srgbClr val="C00000"/>
                    </a:solidFill>
                    <a:sym typeface="+mn-ea"/>
                  </a:rPr>
                  <a:t> </a:t>
                </a:r>
                <a:r>
                  <a:rPr 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endParaRPr lang="en-US" altLang="zh-CN" sz="32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964" y="3810898"/>
                <a:ext cx="9268767" cy="1229995"/>
              </a:xfrm>
              <a:prstGeom prst="rect">
                <a:avLst/>
              </a:prstGeom>
              <a:blipFill rotWithShape="1">
                <a:blip r:embed="rId5"/>
                <a:stretch>
                  <a:fillRect l="-3" t="-21" r="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81609" y="4903098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命题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856429" y="4903098"/>
                <a:ext cx="9268767" cy="107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给定素数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任意一条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中长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2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𝑝</m:t>
                    </m:r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−1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的序列都包含一条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长子序列且其元素之和为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4903098"/>
                <a:ext cx="9268767" cy="1078230"/>
              </a:xfrm>
              <a:prstGeom prst="rect">
                <a:avLst/>
              </a:prstGeom>
              <a:blipFill rotWithShape="1">
                <a:blip r:embed="rId6"/>
                <a:stretch>
                  <a:fillRect l="-3" t="-24" r="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1581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(</a:t>
                </a:r>
                <a:r>
                  <a:rPr lang="en-US" altLang="zh-CN" sz="3200" b="1" dirty="0">
                    <a:solidFill>
                      <a:srgbClr val="C00000"/>
                    </a:solidFill>
                    <a:sym typeface="+mn-ea"/>
                  </a:rPr>
                  <a:t>Schwarz-Zippel</a:t>
                </a: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)</a:t>
                </a:r>
                <a:r>
                  <a:rPr 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给定域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以及一个次数不超过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的非零多项式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𝑆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的一个有限子集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𝑛</m:t>
                        </m:r>
                      </m:sup>
                    </m:sSup>
                    <m:r>
                      <a:rPr lang="zh-CN" altLang="en-US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sym typeface="+mn-ea"/>
                      </a:rPr>
                      <m:t>中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最多有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𝑑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|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𝑆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|</m:t>
                        </m:r>
                      </m:e>
                      <m:sup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𝑛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个根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</a:t>
                </a:r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1581150"/>
              </a:xfrm>
              <a:prstGeom prst="rect">
                <a:avLst/>
              </a:prstGeom>
              <a:blipFill rotWithShape="1">
                <a:blip r:embed="rId3"/>
                <a:stretch>
                  <a:fillRect l="-3" t="-17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44740" y="26234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</a:rPr>
              <a:t>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116455" y="2672080"/>
                <a:ext cx="8945880" cy="1093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证明若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是二元域上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次数不超过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的非零多项式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至少有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3200" i="1" dirty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</m:sup>
                    </m:sSup>
                    <m:r>
                      <a:rPr lang="zh-CN" alt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个非零点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。</a:t>
                </a:r>
                <a:endParaRPr lang="zh-CN" altLang="en-US" sz="32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455" y="2672080"/>
                <a:ext cx="8945880" cy="10934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81609" y="691143"/>
            <a:ext cx="1219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引理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56429" y="691143"/>
                <a:ext cx="9268767" cy="2553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  <a:buClrTx/>
                  <a:buSzTx/>
                  <a:buFontTx/>
                </a:pP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(</a:t>
                </a:r>
                <a:r>
                  <a:rPr lang="en-US" altLang="zh-CN" sz="3200" b="1" dirty="0">
                    <a:solidFill>
                      <a:srgbClr val="C00000"/>
                    </a:solidFill>
                    <a:sym typeface="+mn-ea"/>
                  </a:rPr>
                  <a:t>Schwarz-Zippel</a:t>
                </a:r>
                <a:r>
                  <a:rPr lang="zh-CN" altLang="en-US" sz="3200" b="1" dirty="0">
                    <a:solidFill>
                      <a:srgbClr val="C00000"/>
                    </a:solidFill>
                    <a:sym typeface="+mn-ea"/>
                  </a:rPr>
                  <a:t>)</a:t>
                </a:r>
                <a:r>
                  <a:rPr 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给定域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以及一个度数为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𝑑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假设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不是零多项式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令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𝑆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为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的一个有限子集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.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现在我们从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𝑆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中均匀独立随机选取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𝑛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个元素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,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那么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的概率</a:t>
                </a:r>
                <a:r>
                  <a:rPr lang="en-US" altLang="zh-CN" sz="3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𝑑</m:t>
                    </m:r>
                    <m:r>
                      <a:rPr lang="en-US" altLang="zh-CN" sz="320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3200" i="1" dirty="0" smtClean="0">
                            <a:solidFill>
                              <a:srgbClr val="3B862E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3B862E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.</m:t>
                    </m:r>
                  </m:oMath>
                </a14:m>
                <a:endParaRPr lang="zh-CN" altLang="en-US" sz="3200" dirty="0">
                  <a:solidFill>
                    <a:srgbClr val="3B862E"/>
                  </a:solidFill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29" y="691143"/>
                <a:ext cx="9268767" cy="2553335"/>
              </a:xfrm>
              <a:prstGeom prst="rect">
                <a:avLst/>
              </a:prstGeom>
              <a:blipFill rotWithShape="1">
                <a:blip r:embed="rId3"/>
                <a:stretch>
                  <a:fillRect l="-3" t="-10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130bf6b-ee2a-4ba4-a687-daa1d8283a57"/>
  <p:tag name="COMMONDATA" val="eyJoZGlkIjoiNDgwYTQ0NzdiMzVjOTQxMTc0YjcwNTBjZmRjNzU2Y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7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3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6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8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1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4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7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3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6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49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5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8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1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7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3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6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79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2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8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1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4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7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3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6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09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2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5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8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3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6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29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2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5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8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1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4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47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52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640.xml><?xml version="1.0" encoding="utf-8"?>
<p:tagLst xmlns:p="http://schemas.openxmlformats.org/presentationml/2006/main">
  <p:tag name="KSO_WM_DIAGRAM_VIRTUALLY_FRAME" val="{&quot;height&quot;:223.45,&quot;left&quot;:61.5440157480315,&quot;top&quot;:54.42070866141732,&quot;width&quot;:814.4556692913386}"/>
</p:tagLst>
</file>

<file path=ppt/tags/tag11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10516</Words>
  <Application>Microsoft Office PowerPoint</Application>
  <PresentationFormat>宽屏</PresentationFormat>
  <Paragraphs>780</Paragraphs>
  <Slides>124</Slides>
  <Notes>116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124</vt:i4>
      </vt:variant>
    </vt:vector>
  </HeadingPairs>
  <TitlesOfParts>
    <vt:vector size="135" baseType="lpstr">
      <vt:lpstr>SimSun-ExtB</vt:lpstr>
      <vt:lpstr>等线</vt:lpstr>
      <vt:lpstr>等线 Light</vt:lpstr>
      <vt:lpstr>Arial</vt:lpstr>
      <vt:lpstr>Cambria</vt:lpstr>
      <vt:lpstr>Cambria Math</vt:lpstr>
      <vt:lpstr>Symbol</vt:lpstr>
      <vt:lpstr>Times New Roman</vt:lpstr>
      <vt:lpstr>Office 主题​​</vt:lpstr>
      <vt:lpstr>1_Office 主题​​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王子曌珺</dc:creator>
  <cp:lastModifiedBy>Sihuang Hu</cp:lastModifiedBy>
  <cp:revision>297</cp:revision>
  <dcterms:created xsi:type="dcterms:W3CDTF">2022-11-22T11:10:00Z</dcterms:created>
  <dcterms:modified xsi:type="dcterms:W3CDTF">2026-09-28T01:19:09Z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FC9DD9C77C244854BDF72D1C4FAD1C58_12</vt:lpwstr>
  </property>
  <property fmtid="{D5CDD505-2E9C-101B-9397-08002B2CF9AE}" pid="3" name="KSOProductBuildVer">
    <vt:lpwstr>2052-12.1.0.22529</vt:lpwstr>
  </property>
</Properties>
</file>